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86" r:id="rId2"/>
    <p:sldId id="256" r:id="rId3"/>
    <p:sldId id="279" r:id="rId4"/>
    <p:sldId id="269" r:id="rId5"/>
    <p:sldId id="270" r:id="rId6"/>
    <p:sldId id="277" r:id="rId7"/>
    <p:sldId id="285" r:id="rId8"/>
    <p:sldId id="272" r:id="rId9"/>
    <p:sldId id="271" r:id="rId10"/>
    <p:sldId id="283" r:id="rId11"/>
    <p:sldId id="280" r:id="rId12"/>
    <p:sldId id="273" r:id="rId13"/>
    <p:sldId id="275" r:id="rId14"/>
    <p:sldId id="274" r:id="rId15"/>
    <p:sldId id="284" r:id="rId16"/>
    <p:sldId id="276" r:id="rId17"/>
    <p:sldId id="287" r:id="rId18"/>
    <p:sldId id="289" r:id="rId19"/>
    <p:sldId id="267" r:id="rId20"/>
    <p:sldId id="288"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9" d="100"/>
          <a:sy n="109" d="100"/>
        </p:scale>
        <p:origin x="167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488791315581833"/>
          <c:y val="0.23318975740002601"/>
          <c:w val="0.29864373349342843"/>
          <c:h val="0.61881278259339456"/>
        </c:manualLayout>
      </c:layout>
      <c:doughnutChart>
        <c:varyColors val="1"/>
        <c:ser>
          <c:idx val="0"/>
          <c:order val="0"/>
          <c:tx>
            <c:strRef>
              <c:f>Sheet1!$B$1</c:f>
              <c:strCache>
                <c:ptCount val="1"/>
                <c:pt idx="0">
                  <c:v>Target 2000 Chillren </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4"/>
                <c:pt idx="0">
                  <c:v>First term</c:v>
                </c:pt>
                <c:pt idx="1">
                  <c:v>2nd term</c:v>
                </c:pt>
                <c:pt idx="2">
                  <c:v>3rd term</c:v>
                </c:pt>
                <c:pt idx="3">
                  <c:v>4th term</c:v>
                </c:pt>
              </c:strCache>
            </c:strRef>
          </c:cat>
          <c:val>
            <c:numRef>
              <c:f>Sheet1!$B$2:$B$5</c:f>
              <c:numCache>
                <c:formatCode>General</c:formatCode>
                <c:ptCount val="4"/>
                <c:pt idx="0">
                  <c:v>1000</c:v>
                </c:pt>
                <c:pt idx="1">
                  <c:v>500</c:v>
                </c:pt>
                <c:pt idx="2">
                  <c:v>300</c:v>
                </c:pt>
                <c:pt idx="3">
                  <c:v>200</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EC1DC8-C59F-4D07-9336-01CA26E46649}" type="datetimeFigureOut">
              <a:rPr lang="en-SG" smtClean="0"/>
              <a:t>16/9/2025</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CF74CD-CC8A-4EBC-8F98-04FDC2A82DAA}" type="slidenum">
              <a:rPr lang="en-SG" smtClean="0"/>
              <a:t>‹#›</a:t>
            </a:fld>
            <a:endParaRPr lang="en-SG"/>
          </a:p>
        </p:txBody>
      </p:sp>
    </p:spTree>
    <p:extLst>
      <p:ext uri="{BB962C8B-B14F-4D97-AF65-F5344CB8AC3E}">
        <p14:creationId xmlns:p14="http://schemas.microsoft.com/office/powerpoint/2010/main" val="3830113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a:t>
            </a:fld>
            <a:endParaRPr lang="en-SG"/>
          </a:p>
        </p:txBody>
      </p:sp>
    </p:spTree>
    <p:extLst>
      <p:ext uri="{BB962C8B-B14F-4D97-AF65-F5344CB8AC3E}">
        <p14:creationId xmlns:p14="http://schemas.microsoft.com/office/powerpoint/2010/main" val="1035546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2</a:t>
            </a:fld>
            <a:endParaRPr lang="en-SG"/>
          </a:p>
        </p:txBody>
      </p:sp>
    </p:spTree>
    <p:extLst>
      <p:ext uri="{BB962C8B-B14F-4D97-AF65-F5344CB8AC3E}">
        <p14:creationId xmlns:p14="http://schemas.microsoft.com/office/powerpoint/2010/main" val="2943003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3</a:t>
            </a:fld>
            <a:endParaRPr lang="en-SG"/>
          </a:p>
        </p:txBody>
      </p:sp>
    </p:spTree>
    <p:extLst>
      <p:ext uri="{BB962C8B-B14F-4D97-AF65-F5344CB8AC3E}">
        <p14:creationId xmlns:p14="http://schemas.microsoft.com/office/powerpoint/2010/main" val="2619539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4</a:t>
            </a:fld>
            <a:endParaRPr lang="en-SG"/>
          </a:p>
        </p:txBody>
      </p:sp>
    </p:spTree>
    <p:extLst>
      <p:ext uri="{BB962C8B-B14F-4D97-AF65-F5344CB8AC3E}">
        <p14:creationId xmlns:p14="http://schemas.microsoft.com/office/powerpoint/2010/main" val="292481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5</a:t>
            </a:fld>
            <a:endParaRPr lang="en-SG"/>
          </a:p>
        </p:txBody>
      </p:sp>
    </p:spTree>
    <p:extLst>
      <p:ext uri="{BB962C8B-B14F-4D97-AF65-F5344CB8AC3E}">
        <p14:creationId xmlns:p14="http://schemas.microsoft.com/office/powerpoint/2010/main" val="1929150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6</a:t>
            </a:fld>
            <a:endParaRPr lang="en-SG"/>
          </a:p>
        </p:txBody>
      </p:sp>
    </p:spTree>
    <p:extLst>
      <p:ext uri="{BB962C8B-B14F-4D97-AF65-F5344CB8AC3E}">
        <p14:creationId xmlns:p14="http://schemas.microsoft.com/office/powerpoint/2010/main" val="3889585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7</a:t>
            </a:fld>
            <a:endParaRPr lang="en-SG"/>
          </a:p>
        </p:txBody>
      </p:sp>
    </p:spTree>
    <p:extLst>
      <p:ext uri="{BB962C8B-B14F-4D97-AF65-F5344CB8AC3E}">
        <p14:creationId xmlns:p14="http://schemas.microsoft.com/office/powerpoint/2010/main" val="1786527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8</a:t>
            </a:fld>
            <a:endParaRPr lang="en-SG"/>
          </a:p>
        </p:txBody>
      </p:sp>
    </p:spTree>
    <p:extLst>
      <p:ext uri="{BB962C8B-B14F-4D97-AF65-F5344CB8AC3E}">
        <p14:creationId xmlns:p14="http://schemas.microsoft.com/office/powerpoint/2010/main" val="3981564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9</a:t>
            </a:fld>
            <a:endParaRPr lang="en-SG"/>
          </a:p>
        </p:txBody>
      </p:sp>
    </p:spTree>
    <p:extLst>
      <p:ext uri="{BB962C8B-B14F-4D97-AF65-F5344CB8AC3E}">
        <p14:creationId xmlns:p14="http://schemas.microsoft.com/office/powerpoint/2010/main" val="1919594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10</a:t>
            </a:fld>
            <a:endParaRPr lang="en-SG"/>
          </a:p>
        </p:txBody>
      </p:sp>
    </p:spTree>
    <p:extLst>
      <p:ext uri="{BB962C8B-B14F-4D97-AF65-F5344CB8AC3E}">
        <p14:creationId xmlns:p14="http://schemas.microsoft.com/office/powerpoint/2010/main" val="195711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11</a:t>
            </a:fld>
            <a:endParaRPr lang="en-SG"/>
          </a:p>
        </p:txBody>
      </p:sp>
    </p:spTree>
    <p:extLst>
      <p:ext uri="{BB962C8B-B14F-4D97-AF65-F5344CB8AC3E}">
        <p14:creationId xmlns:p14="http://schemas.microsoft.com/office/powerpoint/2010/main" val="3179727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12</a:t>
            </a:fld>
            <a:endParaRPr lang="en-SG"/>
          </a:p>
        </p:txBody>
      </p:sp>
    </p:spTree>
    <p:extLst>
      <p:ext uri="{BB962C8B-B14F-4D97-AF65-F5344CB8AC3E}">
        <p14:creationId xmlns:p14="http://schemas.microsoft.com/office/powerpoint/2010/main" val="494446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13</a:t>
            </a:fld>
            <a:endParaRPr lang="en-SG"/>
          </a:p>
        </p:txBody>
      </p:sp>
    </p:spTree>
    <p:extLst>
      <p:ext uri="{BB962C8B-B14F-4D97-AF65-F5344CB8AC3E}">
        <p14:creationId xmlns:p14="http://schemas.microsoft.com/office/powerpoint/2010/main" val="4180905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14</a:t>
            </a:fld>
            <a:endParaRPr lang="en-SG"/>
          </a:p>
        </p:txBody>
      </p:sp>
    </p:spTree>
    <p:extLst>
      <p:ext uri="{BB962C8B-B14F-4D97-AF65-F5344CB8AC3E}">
        <p14:creationId xmlns:p14="http://schemas.microsoft.com/office/powerpoint/2010/main" val="3962095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15</a:t>
            </a:fld>
            <a:endParaRPr lang="en-SG"/>
          </a:p>
        </p:txBody>
      </p:sp>
    </p:spTree>
    <p:extLst>
      <p:ext uri="{BB962C8B-B14F-4D97-AF65-F5344CB8AC3E}">
        <p14:creationId xmlns:p14="http://schemas.microsoft.com/office/powerpoint/2010/main" val="3114443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16</a:t>
            </a:fld>
            <a:endParaRPr lang="en-SG"/>
          </a:p>
        </p:txBody>
      </p:sp>
    </p:spTree>
    <p:extLst>
      <p:ext uri="{BB962C8B-B14F-4D97-AF65-F5344CB8AC3E}">
        <p14:creationId xmlns:p14="http://schemas.microsoft.com/office/powerpoint/2010/main" val="2286474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17</a:t>
            </a:fld>
            <a:endParaRPr lang="en-SG"/>
          </a:p>
        </p:txBody>
      </p:sp>
    </p:spTree>
    <p:extLst>
      <p:ext uri="{BB962C8B-B14F-4D97-AF65-F5344CB8AC3E}">
        <p14:creationId xmlns:p14="http://schemas.microsoft.com/office/powerpoint/2010/main" val="1801943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18</a:t>
            </a:fld>
            <a:endParaRPr lang="en-SG"/>
          </a:p>
        </p:txBody>
      </p:sp>
    </p:spTree>
    <p:extLst>
      <p:ext uri="{BB962C8B-B14F-4D97-AF65-F5344CB8AC3E}">
        <p14:creationId xmlns:p14="http://schemas.microsoft.com/office/powerpoint/2010/main" val="2342872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71CF74CD-CC8A-4EBC-8F98-04FDC2A82DAA}" type="slidenum">
              <a:rPr lang="en-SG" smtClean="0"/>
              <a:t>20</a:t>
            </a:fld>
            <a:endParaRPr lang="en-SG"/>
          </a:p>
        </p:txBody>
      </p:sp>
    </p:spTree>
    <p:extLst>
      <p:ext uri="{BB962C8B-B14F-4D97-AF65-F5344CB8AC3E}">
        <p14:creationId xmlns:p14="http://schemas.microsoft.com/office/powerpoint/2010/main" val="2944152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jpe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24.jpeg"/><Relationship Id="rId4" Type="http://schemas.openxmlformats.org/officeDocument/2006/relationships/image" Target="../media/image19.png"/><Relationship Id="rId9"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2141" y="1951892"/>
            <a:ext cx="2648496" cy="1559652"/>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https://cjslines.com:2096/cpsess2324961250/3rdparty/roundcube/?_task=mail&amp;_action=get&amp;_mbox=INBOX&amp;_uid=116816&amp;_token=L26doJoEPsl9ZzpErOlihA0GbieOEJTs&amp;_part=2&amp;_embed=1&amp;_mimeclass=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6" name="TextBox 5"/>
          <p:cNvSpPr txBox="1"/>
          <p:nvPr/>
        </p:nvSpPr>
        <p:spPr>
          <a:xfrm>
            <a:off x="2044166" y="3798421"/>
            <a:ext cx="4764446" cy="769441"/>
          </a:xfrm>
          <a:prstGeom prst="rect">
            <a:avLst/>
          </a:prstGeom>
          <a:noFill/>
        </p:spPr>
        <p:txBody>
          <a:bodyPr wrap="none" rtlCol="0">
            <a:spAutoFit/>
          </a:bodyPr>
          <a:lstStyle/>
          <a:p>
            <a:r>
              <a:rPr lang="en-SG" sz="4400" dirty="0" smtClean="0">
                <a:latin typeface="Sitka Text Semibold" pitchFamily="2" charset="0"/>
              </a:rPr>
              <a:t>Living the vision</a:t>
            </a:r>
            <a:endParaRPr lang="en-SG" sz="4400" dirty="0">
              <a:latin typeface="Sitka Text Semibold" pitchFamily="2" charset="0"/>
            </a:endParaRPr>
          </a:p>
        </p:txBody>
      </p:sp>
      <p:pic>
        <p:nvPicPr>
          <p:cNvPr id="7" name="Picture 6"/>
          <p:cNvPicPr>
            <a:picLocks noChangeAspect="1"/>
          </p:cNvPicPr>
          <p:nvPr/>
        </p:nvPicPr>
        <p:blipFill>
          <a:blip r:embed="rId4"/>
          <a:stretch>
            <a:fillRect/>
          </a:stretch>
        </p:blipFill>
        <p:spPr>
          <a:xfrm>
            <a:off x="8115300" y="7938"/>
            <a:ext cx="1143000" cy="1565886"/>
          </a:xfrm>
          <a:prstGeom prst="rect">
            <a:avLst/>
          </a:prstGeom>
        </p:spPr>
      </p:pic>
    </p:spTree>
    <p:extLst>
      <p:ext uri="{BB962C8B-B14F-4D97-AF65-F5344CB8AC3E}">
        <p14:creationId xmlns:p14="http://schemas.microsoft.com/office/powerpoint/2010/main" val="4190820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2092" y="147021"/>
            <a:ext cx="2053422" cy="136208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4"/>
          <a:stretch>
            <a:fillRect/>
          </a:stretch>
        </p:blipFill>
        <p:spPr>
          <a:xfrm>
            <a:off x="3830659" y="1157614"/>
            <a:ext cx="1415563" cy="493819"/>
          </a:xfrm>
          <a:prstGeom prst="rect">
            <a:avLst/>
          </a:prstGeom>
        </p:spPr>
      </p:pic>
      <p:sp>
        <p:nvSpPr>
          <p:cNvPr id="11" name="Rectangle 10"/>
          <p:cNvSpPr/>
          <p:nvPr/>
        </p:nvSpPr>
        <p:spPr>
          <a:xfrm>
            <a:off x="1783496" y="1470110"/>
            <a:ext cx="5653452" cy="1015663"/>
          </a:xfrm>
          <a:prstGeom prst="rect">
            <a:avLst/>
          </a:prstGeom>
        </p:spPr>
        <p:txBody>
          <a:bodyPr wrap="square">
            <a:spAutoFit/>
          </a:bodyPr>
          <a:lstStyle/>
          <a:p>
            <a:pPr algn="ctr"/>
            <a:r>
              <a:rPr lang="en-US" sz="6000" dirty="0" smtClean="0">
                <a:latin typeface="Cambria" panose="02040503050406030204" pitchFamily="18" charset="0"/>
                <a:cs typeface="Times New Roman" panose="02020603050405020304" pitchFamily="18" charset="0"/>
              </a:rPr>
              <a:t>BROAD VISION</a:t>
            </a:r>
            <a:endParaRPr lang="en-SG" sz="6000" dirty="0"/>
          </a:p>
        </p:txBody>
      </p:sp>
      <p:sp>
        <p:nvSpPr>
          <p:cNvPr id="8" name="AutoShape 2" descr="https://cjslines.com:2096/cpsess2324961250/3rdparty/roundcube/?_task=mail&amp;_action=get&amp;_mbox=INBOX&amp;_uid=116816&amp;_token=L26doJoEPsl9ZzpErOlihA0GbieOEJTs&amp;_part=2&amp;_embed=1&amp;_mimeclass=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5" name="TextBox 14"/>
          <p:cNvSpPr txBox="1"/>
          <p:nvPr/>
        </p:nvSpPr>
        <p:spPr>
          <a:xfrm>
            <a:off x="583209" y="4429060"/>
            <a:ext cx="8229601" cy="1938992"/>
          </a:xfrm>
          <a:prstGeom prst="rect">
            <a:avLst/>
          </a:prstGeom>
          <a:noFill/>
        </p:spPr>
        <p:txBody>
          <a:bodyPr wrap="square" rtlCol="0">
            <a:spAutoFit/>
          </a:bodyPr>
          <a:lstStyle/>
          <a:p>
            <a:r>
              <a:rPr lang="en-SG" sz="2000" dirty="0" smtClean="0">
                <a:solidFill>
                  <a:srgbClr val="C00000"/>
                </a:solidFill>
              </a:rPr>
              <a:t>India : Ps </a:t>
            </a:r>
            <a:r>
              <a:rPr lang="en-SG" sz="2000" dirty="0" err="1" smtClean="0">
                <a:solidFill>
                  <a:srgbClr val="C00000"/>
                </a:solidFill>
              </a:rPr>
              <a:t>L.Kikon</a:t>
            </a:r>
            <a:r>
              <a:rPr lang="en-SG" sz="2000" dirty="0" smtClean="0">
                <a:solidFill>
                  <a:srgbClr val="C00000"/>
                </a:solidFill>
              </a:rPr>
              <a:t> </a:t>
            </a:r>
            <a:r>
              <a:rPr lang="en-SG" sz="2000" dirty="0">
                <a:solidFill>
                  <a:srgbClr val="C00000"/>
                </a:solidFill>
              </a:rPr>
              <a:t>(Pastor of Vision &amp; </a:t>
            </a:r>
            <a:r>
              <a:rPr lang="en-SG" sz="2000" dirty="0" smtClean="0">
                <a:solidFill>
                  <a:srgbClr val="C00000"/>
                </a:solidFill>
              </a:rPr>
              <a:t>Direction) </a:t>
            </a:r>
          </a:p>
          <a:p>
            <a:r>
              <a:rPr lang="en-SG" sz="2000" dirty="0" smtClean="0">
                <a:solidFill>
                  <a:srgbClr val="C00000"/>
                </a:solidFill>
              </a:rPr>
              <a:t>Myanmar : Ps Grace (Children/Youth Lead Pastor) - </a:t>
            </a:r>
          </a:p>
          <a:p>
            <a:r>
              <a:rPr lang="en-SG" sz="2000" dirty="0" smtClean="0">
                <a:solidFill>
                  <a:srgbClr val="C00000"/>
                </a:solidFill>
              </a:rPr>
              <a:t>Singapore : Ps Lee </a:t>
            </a:r>
            <a:r>
              <a:rPr lang="en-SG" sz="2000" dirty="0" err="1" smtClean="0">
                <a:solidFill>
                  <a:srgbClr val="C00000"/>
                </a:solidFill>
              </a:rPr>
              <a:t>Keow</a:t>
            </a:r>
            <a:r>
              <a:rPr lang="en-SG" sz="2000" dirty="0" smtClean="0">
                <a:solidFill>
                  <a:srgbClr val="C00000"/>
                </a:solidFill>
              </a:rPr>
              <a:t> (Lead Pastor -</a:t>
            </a:r>
            <a:r>
              <a:rPr lang="en-US" sz="2000" dirty="0" smtClean="0">
                <a:solidFill>
                  <a:srgbClr val="C00000"/>
                </a:solidFill>
              </a:rPr>
              <a:t> </a:t>
            </a:r>
            <a:r>
              <a:rPr lang="en-US" sz="2000" dirty="0">
                <a:solidFill>
                  <a:srgbClr val="C00000"/>
                </a:solidFill>
              </a:rPr>
              <a:t>Counseling &amp; Social </a:t>
            </a:r>
            <a:r>
              <a:rPr lang="en-US" sz="2000" dirty="0" smtClean="0">
                <a:solidFill>
                  <a:srgbClr val="C00000"/>
                </a:solidFill>
              </a:rPr>
              <a:t>Ministry</a:t>
            </a:r>
            <a:r>
              <a:rPr lang="en-SG" sz="2000" dirty="0" smtClean="0">
                <a:solidFill>
                  <a:srgbClr val="C00000"/>
                </a:solidFill>
              </a:rPr>
              <a:t>)</a:t>
            </a:r>
          </a:p>
          <a:p>
            <a:r>
              <a:rPr lang="en-SG" sz="2000" dirty="0" smtClean="0">
                <a:solidFill>
                  <a:srgbClr val="C00000"/>
                </a:solidFill>
              </a:rPr>
              <a:t>Singapore : Jenny </a:t>
            </a:r>
            <a:r>
              <a:rPr lang="en-SG" sz="2000" dirty="0" err="1" smtClean="0">
                <a:solidFill>
                  <a:srgbClr val="C00000"/>
                </a:solidFill>
              </a:rPr>
              <a:t>Kwek</a:t>
            </a:r>
            <a:r>
              <a:rPr lang="en-SG" sz="2000" dirty="0" smtClean="0">
                <a:solidFill>
                  <a:srgbClr val="C00000"/>
                </a:solidFill>
              </a:rPr>
              <a:t> (</a:t>
            </a:r>
            <a:r>
              <a:rPr lang="en-US" sz="2000" dirty="0">
                <a:solidFill>
                  <a:srgbClr val="FF0000"/>
                </a:solidFill>
              </a:rPr>
              <a:t>Leader </a:t>
            </a:r>
            <a:r>
              <a:rPr lang="en-US" sz="2000" dirty="0" smtClean="0">
                <a:solidFill>
                  <a:srgbClr val="FF0000"/>
                </a:solidFill>
              </a:rPr>
              <a:t>– </a:t>
            </a:r>
            <a:r>
              <a:rPr lang="en-US" sz="2000" dirty="0" err="1" smtClean="0">
                <a:solidFill>
                  <a:srgbClr val="FF0000"/>
                </a:solidFill>
              </a:rPr>
              <a:t>Eng</a:t>
            </a:r>
            <a:r>
              <a:rPr lang="en-US" sz="2000" dirty="0" smtClean="0">
                <a:solidFill>
                  <a:srgbClr val="FF0000"/>
                </a:solidFill>
              </a:rPr>
              <a:t> Digital </a:t>
            </a:r>
            <a:r>
              <a:rPr lang="en-US" sz="2000" dirty="0">
                <a:solidFill>
                  <a:srgbClr val="FF0000"/>
                </a:solidFill>
              </a:rPr>
              <a:t>Discipleship &amp; Ministry Support</a:t>
            </a:r>
            <a:r>
              <a:rPr lang="en-SG" sz="2000" dirty="0" smtClean="0">
                <a:solidFill>
                  <a:srgbClr val="FF0000"/>
                </a:solidFill>
              </a:rPr>
              <a:t>)</a:t>
            </a:r>
          </a:p>
          <a:p>
            <a:r>
              <a:rPr lang="en-SG" sz="2000" dirty="0" smtClean="0">
                <a:solidFill>
                  <a:srgbClr val="FF0000"/>
                </a:solidFill>
              </a:rPr>
              <a:t> </a:t>
            </a:r>
          </a:p>
          <a:p>
            <a:r>
              <a:rPr lang="en-SG" sz="2000" dirty="0" smtClean="0">
                <a:solidFill>
                  <a:srgbClr val="C00000"/>
                </a:solidFill>
              </a:rPr>
              <a:t>Date of Presentation : 19 September 2025</a:t>
            </a:r>
            <a:endParaRPr lang="en-SG" sz="2000" dirty="0">
              <a:solidFill>
                <a:srgbClr val="C00000"/>
              </a:solidFill>
            </a:endParaRPr>
          </a:p>
        </p:txBody>
      </p:sp>
      <p:sp>
        <p:nvSpPr>
          <p:cNvPr id="2" name="Rectangle 1"/>
          <p:cNvSpPr/>
          <p:nvPr/>
        </p:nvSpPr>
        <p:spPr>
          <a:xfrm>
            <a:off x="2250576" y="2358758"/>
            <a:ext cx="4284186" cy="523220"/>
          </a:xfrm>
          <a:prstGeom prst="rect">
            <a:avLst/>
          </a:prstGeom>
        </p:spPr>
        <p:txBody>
          <a:bodyPr wrap="none">
            <a:spAutoFit/>
          </a:bodyPr>
          <a:lstStyle/>
          <a:p>
            <a:pPr lvl="0"/>
            <a:r>
              <a:rPr lang="en-US" sz="2800" b="1" dirty="0" smtClean="0">
                <a:solidFill>
                  <a:srgbClr val="FF0000"/>
                </a:solidFill>
              </a:rPr>
              <a:t>H</a:t>
            </a:r>
            <a:r>
              <a:rPr lang="en-US" sz="2800" dirty="0" smtClean="0">
                <a:solidFill>
                  <a:schemeClr val="tx1">
                    <a:lumMod val="95000"/>
                    <a:lumOff val="5000"/>
                  </a:schemeClr>
                </a:solidFill>
              </a:rPr>
              <a:t>ope</a:t>
            </a:r>
            <a:r>
              <a:rPr lang="en-US" sz="2800" b="1" dirty="0" smtClean="0">
                <a:solidFill>
                  <a:srgbClr val="FF0000"/>
                </a:solidFill>
              </a:rPr>
              <a:t> E</a:t>
            </a:r>
            <a:r>
              <a:rPr lang="en-US" sz="2800" b="1" dirty="0" smtClean="0">
                <a:solidFill>
                  <a:schemeClr val="tx1">
                    <a:lumMod val="95000"/>
                    <a:lumOff val="5000"/>
                  </a:schemeClr>
                </a:solidFill>
              </a:rPr>
              <a:t>ncourage</a:t>
            </a:r>
            <a:r>
              <a:rPr lang="en-US" sz="2800" b="1" dirty="0" smtClean="0">
                <a:solidFill>
                  <a:srgbClr val="FF0000"/>
                </a:solidFill>
              </a:rPr>
              <a:t> L</a:t>
            </a:r>
            <a:r>
              <a:rPr lang="en-US" sz="2800" b="1" dirty="0" smtClean="0">
                <a:solidFill>
                  <a:schemeClr val="tx1">
                    <a:lumMod val="95000"/>
                    <a:lumOff val="5000"/>
                  </a:schemeClr>
                </a:solidFill>
              </a:rPr>
              <a:t>isten</a:t>
            </a:r>
            <a:r>
              <a:rPr lang="en-US" sz="2800" b="1" dirty="0" smtClean="0">
                <a:solidFill>
                  <a:srgbClr val="FF0000"/>
                </a:solidFill>
              </a:rPr>
              <a:t> P</a:t>
            </a:r>
            <a:r>
              <a:rPr lang="en-US" sz="2800" b="1" dirty="0" smtClean="0">
                <a:solidFill>
                  <a:schemeClr val="tx1">
                    <a:lumMod val="95000"/>
                    <a:lumOff val="5000"/>
                  </a:schemeClr>
                </a:solidFill>
              </a:rPr>
              <a:t>ray</a:t>
            </a:r>
            <a:endParaRPr lang="en-US" sz="2800" b="1" dirty="0">
              <a:solidFill>
                <a:schemeClr val="tx1">
                  <a:lumMod val="95000"/>
                  <a:lumOff val="5000"/>
                </a:schemeClr>
              </a:solidFill>
            </a:endParaRPr>
          </a:p>
        </p:txBody>
      </p:sp>
      <p:sp>
        <p:nvSpPr>
          <p:cNvPr id="3" name="Rectangle 2"/>
          <p:cNvSpPr/>
          <p:nvPr/>
        </p:nvSpPr>
        <p:spPr>
          <a:xfrm>
            <a:off x="894129" y="2948581"/>
            <a:ext cx="7854217" cy="830997"/>
          </a:xfrm>
          <a:prstGeom prst="rect">
            <a:avLst/>
          </a:prstGeom>
        </p:spPr>
        <p:txBody>
          <a:bodyPr wrap="square">
            <a:spAutoFit/>
          </a:bodyPr>
          <a:lstStyle/>
          <a:p>
            <a:r>
              <a:rPr lang="en-US" sz="2400" b="1" dirty="0">
                <a:solidFill>
                  <a:schemeClr val="tx2">
                    <a:lumMod val="75000"/>
                  </a:schemeClr>
                </a:solidFill>
              </a:rPr>
              <a:t>India Nagaland - Network Support </a:t>
            </a:r>
            <a:r>
              <a:rPr lang="en-US" sz="2400" b="1" dirty="0" smtClean="0">
                <a:solidFill>
                  <a:schemeClr val="tx2">
                    <a:lumMod val="75000"/>
                  </a:schemeClr>
                </a:solidFill>
              </a:rPr>
              <a:t>Children &amp; </a:t>
            </a:r>
            <a:r>
              <a:rPr lang="en-US" sz="2400" b="1" dirty="0">
                <a:solidFill>
                  <a:schemeClr val="tx2">
                    <a:lumMod val="75000"/>
                  </a:schemeClr>
                </a:solidFill>
              </a:rPr>
              <a:t>Youth Building </a:t>
            </a:r>
            <a:endParaRPr lang="en-US" sz="2400" b="1" dirty="0" smtClean="0">
              <a:solidFill>
                <a:schemeClr val="tx2">
                  <a:lumMod val="75000"/>
                </a:schemeClr>
              </a:solidFill>
            </a:endParaRPr>
          </a:p>
          <a:p>
            <a:r>
              <a:rPr lang="en-US" sz="2400" b="1" dirty="0" smtClean="0">
                <a:solidFill>
                  <a:schemeClr val="tx2">
                    <a:lumMod val="75000"/>
                  </a:schemeClr>
                </a:solidFill>
              </a:rPr>
              <a:t>                                                    A </a:t>
            </a:r>
            <a:r>
              <a:rPr lang="en-US" sz="2400" b="1" dirty="0">
                <a:solidFill>
                  <a:schemeClr val="tx2">
                    <a:lumMod val="75000"/>
                  </a:schemeClr>
                </a:solidFill>
              </a:rPr>
              <a:t>safe net</a:t>
            </a:r>
            <a:endParaRPr lang="en-SG" sz="2400" dirty="0"/>
          </a:p>
        </p:txBody>
      </p:sp>
      <p:sp>
        <p:nvSpPr>
          <p:cNvPr id="4" name="Rectangle 3"/>
          <p:cNvSpPr/>
          <p:nvPr/>
        </p:nvSpPr>
        <p:spPr>
          <a:xfrm>
            <a:off x="782514" y="3846182"/>
            <a:ext cx="6242539" cy="400110"/>
          </a:xfrm>
          <a:prstGeom prst="rect">
            <a:avLst/>
          </a:prstGeom>
        </p:spPr>
        <p:txBody>
          <a:bodyPr wrap="square">
            <a:spAutoFit/>
          </a:bodyPr>
          <a:lstStyle/>
          <a:p>
            <a:r>
              <a:rPr lang="en-US" sz="2000" b="1" u="sng" dirty="0"/>
              <a:t>International Missions &amp; Leadership Assignment Team</a:t>
            </a:r>
            <a:endParaRPr lang="en-SG" sz="2000" b="1" u="sng"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7372" y="41141"/>
            <a:ext cx="1456460" cy="11869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4"/>
          <a:stretch>
            <a:fillRect/>
          </a:stretch>
        </p:blipFill>
        <p:spPr>
          <a:xfrm>
            <a:off x="7693271" y="917766"/>
            <a:ext cx="1264662" cy="493819"/>
          </a:xfrm>
          <a:prstGeom prst="rect">
            <a:avLst/>
          </a:prstGeom>
        </p:spPr>
      </p:pic>
      <p:sp>
        <p:nvSpPr>
          <p:cNvPr id="8" name="AutoShape 2" descr="https://cjslines.com:2096/cpsess2324961250/3rdparty/roundcube/?_task=mail&amp;_action=get&amp;_mbox=INBOX&amp;_uid=116816&amp;_token=L26doJoEPsl9ZzpErOlihA0GbieOEJTs&amp;_part=2&amp;_embed=1&amp;_mimeclass=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2" name="Rectangle 1"/>
          <p:cNvSpPr/>
          <p:nvPr/>
        </p:nvSpPr>
        <p:spPr>
          <a:xfrm>
            <a:off x="618636" y="343912"/>
            <a:ext cx="3391727" cy="461665"/>
          </a:xfrm>
          <a:prstGeom prst="rect">
            <a:avLst/>
          </a:prstGeom>
        </p:spPr>
        <p:txBody>
          <a:bodyPr wrap="square">
            <a:spAutoFit/>
          </a:bodyPr>
          <a:lstStyle/>
          <a:p>
            <a:r>
              <a:rPr lang="en-US" sz="2400" dirty="0" smtClean="0"/>
              <a:t> </a:t>
            </a:r>
            <a:endParaRPr lang="en-SG" sz="2400" dirty="0"/>
          </a:p>
        </p:txBody>
      </p:sp>
      <p:sp>
        <p:nvSpPr>
          <p:cNvPr id="3" name="Rectangle 2"/>
          <p:cNvSpPr/>
          <p:nvPr/>
        </p:nvSpPr>
        <p:spPr>
          <a:xfrm>
            <a:off x="4008432" y="3028028"/>
            <a:ext cx="4572000" cy="1200329"/>
          </a:xfrm>
          <a:prstGeom prst="rect">
            <a:avLst/>
          </a:prstGeom>
        </p:spPr>
        <p:txBody>
          <a:bodyPr>
            <a:spAutoFit/>
          </a:bodyPr>
          <a:lstStyle/>
          <a:p>
            <a:r>
              <a:rPr lang="en-US" dirty="0"/>
              <a:t>7 Share your food with the hungry and open your homes to the homeless poor. Give clothes to those who have nothing to wear, and do not refuse to help your own relatives.</a:t>
            </a:r>
            <a:endParaRPr lang="en-SG" dirty="0"/>
          </a:p>
        </p:txBody>
      </p:sp>
      <p:sp>
        <p:nvSpPr>
          <p:cNvPr id="4" name="Rectangle 3"/>
          <p:cNvSpPr/>
          <p:nvPr/>
        </p:nvSpPr>
        <p:spPr>
          <a:xfrm>
            <a:off x="1661058" y="3366582"/>
            <a:ext cx="2696065" cy="523220"/>
          </a:xfrm>
          <a:prstGeom prst="rect">
            <a:avLst/>
          </a:prstGeom>
        </p:spPr>
        <p:txBody>
          <a:bodyPr wrap="square">
            <a:spAutoFit/>
          </a:bodyPr>
          <a:lstStyle/>
          <a:p>
            <a:r>
              <a:rPr lang="en-US" sz="2800" b="1" dirty="0"/>
              <a:t>Isaiah </a:t>
            </a:r>
            <a:r>
              <a:rPr lang="en-US" sz="2800" b="1" dirty="0" smtClean="0"/>
              <a:t>58:7</a:t>
            </a:r>
            <a:endParaRPr lang="en-SG" sz="2800" dirty="0"/>
          </a:p>
        </p:txBody>
      </p:sp>
      <p:pic>
        <p:nvPicPr>
          <p:cNvPr id="12" name="Picture 2" descr="Charity founder from Worcester returns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875" y="4369408"/>
            <a:ext cx="3391727" cy="204980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18636" y="168347"/>
            <a:ext cx="3231866" cy="523220"/>
          </a:xfrm>
          <a:prstGeom prst="rect">
            <a:avLst/>
          </a:prstGeom>
        </p:spPr>
        <p:txBody>
          <a:bodyPr wrap="square">
            <a:spAutoFit/>
          </a:bodyPr>
          <a:lstStyle/>
          <a:p>
            <a:r>
              <a:rPr lang="en-SG" sz="2800" dirty="0"/>
              <a:t>Echo from heaven</a:t>
            </a:r>
          </a:p>
        </p:txBody>
      </p:sp>
      <p:pic>
        <p:nvPicPr>
          <p:cNvPr id="7" name="Picture 2" descr="India: Education can change your life - JR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508" y="4449306"/>
            <a:ext cx="3862615" cy="179363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7"/>
          <a:stretch>
            <a:fillRect/>
          </a:stretch>
        </p:blipFill>
        <p:spPr>
          <a:xfrm>
            <a:off x="1919194" y="716019"/>
            <a:ext cx="5213666" cy="1933310"/>
          </a:xfrm>
          <a:prstGeom prst="rect">
            <a:avLst/>
          </a:prstGeom>
        </p:spPr>
      </p:pic>
    </p:spTree>
    <p:extLst>
      <p:ext uri="{BB962C8B-B14F-4D97-AF65-F5344CB8AC3E}">
        <p14:creationId xmlns:p14="http://schemas.microsoft.com/office/powerpoint/2010/main" val="39514362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9" name="Rectangle 8"/>
          <p:cNvSpPr/>
          <p:nvPr/>
        </p:nvSpPr>
        <p:spPr>
          <a:xfrm>
            <a:off x="1006644" y="248427"/>
            <a:ext cx="3217868" cy="646331"/>
          </a:xfrm>
          <a:prstGeom prst="rect">
            <a:avLst/>
          </a:prstGeom>
          <a:noFill/>
        </p:spPr>
        <p:txBody>
          <a:bodyPr wrap="none" lIns="91440" tIns="45720" rIns="91440" bIns="45720">
            <a:spAutoFit/>
          </a:bodyPr>
          <a:lstStyle/>
          <a:p>
            <a:pPr algn="ctr"/>
            <a:r>
              <a:rPr lang="en-US" sz="3600" b="0" cap="none" spc="0" dirty="0" smtClean="0">
                <a:ln w="0"/>
                <a:solidFill>
                  <a:schemeClr val="accent1"/>
                </a:solidFill>
                <a:effectLst>
                  <a:outerShdw blurRad="38100" dist="25400" dir="5400000" algn="ctr" rotWithShape="0">
                    <a:srgbClr val="6E747A">
                      <a:alpha val="43000"/>
                    </a:srgbClr>
                  </a:outerShdw>
                </a:effectLst>
              </a:rPr>
              <a:t>Where </a:t>
            </a:r>
            <a:r>
              <a:rPr lang="en-US" sz="3600" b="0" cap="none" spc="0" dirty="0" smtClean="0">
                <a:ln w="0"/>
                <a:solidFill>
                  <a:srgbClr val="FF0000"/>
                </a:solidFill>
                <a:effectLst>
                  <a:outerShdw blurRad="38100" dist="25400" dir="5400000" algn="ctr" rotWithShape="0">
                    <a:srgbClr val="6E747A">
                      <a:alpha val="43000"/>
                    </a:srgbClr>
                  </a:outerShdw>
                </a:effectLst>
              </a:rPr>
              <a:t>HE</a:t>
            </a:r>
            <a:r>
              <a:rPr lang="en-US" sz="3600" b="0" cap="none" spc="0" dirty="0" smtClean="0">
                <a:ln w="0"/>
                <a:solidFill>
                  <a:schemeClr val="accent1"/>
                </a:solidFill>
                <a:effectLst>
                  <a:outerShdw blurRad="38100" dist="25400" dir="5400000" algn="ctr" rotWithShape="0">
                    <a:srgbClr val="6E747A">
                      <a:alpha val="43000"/>
                    </a:srgbClr>
                  </a:outerShdw>
                </a:effectLst>
              </a:rPr>
              <a:t> Begin</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900" y="67535"/>
            <a:ext cx="2039815" cy="141556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47020" y="3631965"/>
            <a:ext cx="7781192" cy="1200329"/>
          </a:xfrm>
          <a:prstGeom prst="rect">
            <a:avLst/>
          </a:prstGeom>
        </p:spPr>
        <p:txBody>
          <a:bodyPr wrap="square">
            <a:spAutoFit/>
          </a:bodyPr>
          <a:lstStyle/>
          <a:p>
            <a:r>
              <a:rPr lang="en-US" b="1" dirty="0"/>
              <a:t>Matthew 11:28-30</a:t>
            </a:r>
            <a:r>
              <a:rPr lang="en-US" dirty="0"/>
              <a:t/>
            </a:r>
            <a:br>
              <a:rPr lang="en-US" dirty="0"/>
            </a:br>
            <a:r>
              <a:rPr lang="en-US" i="1" dirty="0"/>
              <a:t>"Come to me, all you who are weary and burdened, and I will give you rest. Take my yoke upon you and learn from me, for I am gentle and humble in heart, and you will find rest for your souls. For my yoke is easy and my burden is light."</a:t>
            </a:r>
            <a:endParaRPr lang="en-SG" dirty="0"/>
          </a:p>
        </p:txBody>
      </p:sp>
      <p:pic>
        <p:nvPicPr>
          <p:cNvPr id="2" name="Picture 1"/>
          <p:cNvPicPr>
            <a:picLocks noChangeAspect="1"/>
          </p:cNvPicPr>
          <p:nvPr/>
        </p:nvPicPr>
        <p:blipFill>
          <a:blip r:embed="rId4"/>
          <a:stretch>
            <a:fillRect/>
          </a:stretch>
        </p:blipFill>
        <p:spPr>
          <a:xfrm>
            <a:off x="7438556" y="1099424"/>
            <a:ext cx="1420723" cy="493819"/>
          </a:xfrm>
          <a:prstGeom prst="rect">
            <a:avLst/>
          </a:prstGeom>
        </p:spPr>
      </p:pic>
      <p:sp>
        <p:nvSpPr>
          <p:cNvPr id="10" name="Rectangle 1"/>
          <p:cNvSpPr>
            <a:spLocks noChangeArrowheads="1"/>
          </p:cNvSpPr>
          <p:nvPr/>
        </p:nvSpPr>
        <p:spPr bwMode="auto">
          <a:xfrm>
            <a:off x="1208142" y="6009894"/>
            <a:ext cx="6458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Calling</a:t>
            </a:r>
            <a:r>
              <a:rPr kumimoji="0" lang="en-US" altLang="en-US" sz="1800" b="0" i="0" u="none" strike="noStrike" cap="none" normalizeH="0" baseline="0" dirty="0" smtClean="0">
                <a:ln>
                  <a:noFill/>
                </a:ln>
                <a:solidFill>
                  <a:schemeClr val="tx1"/>
                </a:solidFill>
                <a:effectLst/>
                <a:latin typeface="Arial" panose="020B0604020202020204" pitchFamily="34" charset="0"/>
              </a:rPr>
              <a:t>    –  A specific mission or role God wants you to fulfill</a:t>
            </a:r>
          </a:p>
        </p:txBody>
      </p:sp>
      <p:sp>
        <p:nvSpPr>
          <p:cNvPr id="4" name="Rectangle 3"/>
          <p:cNvSpPr/>
          <p:nvPr/>
        </p:nvSpPr>
        <p:spPr>
          <a:xfrm>
            <a:off x="474593" y="1202018"/>
            <a:ext cx="7499838" cy="1649682"/>
          </a:xfrm>
          <a:prstGeom prst="rect">
            <a:avLst/>
          </a:prstGeom>
        </p:spPr>
        <p:txBody>
          <a:bodyPr wrap="square">
            <a:spAutoFit/>
          </a:bodyPr>
          <a:lstStyle/>
          <a:p>
            <a:pPr>
              <a:lnSpc>
                <a:spcPct val="115000"/>
              </a:lnSpc>
              <a:spcBef>
                <a:spcPts val="2400"/>
              </a:spcBef>
              <a:spcAft>
                <a:spcPts val="0"/>
              </a:spcAft>
            </a:pPr>
            <a:r>
              <a:rPr lang="en-US" sz="2400" b="1" kern="0" dirty="0" smtClean="0">
                <a:solidFill>
                  <a:srgbClr val="365F91"/>
                </a:solidFill>
                <a:latin typeface="Calibri" panose="020F0502020204030204" pitchFamily="34" charset="0"/>
                <a:ea typeface="MS Gothic" panose="020B0609070205080204" pitchFamily="49" charset="-128"/>
                <a:cs typeface="Times New Roman" panose="02020603050405020304" pitchFamily="18" charset="0"/>
              </a:rPr>
              <a:t>                                  </a:t>
            </a:r>
            <a:r>
              <a:rPr lang="en-US" sz="2800" b="1" kern="0" dirty="0" smtClean="0">
                <a:solidFill>
                  <a:srgbClr val="365F91"/>
                </a:solidFill>
                <a:latin typeface="Calibri" panose="020F0502020204030204" pitchFamily="34" charset="0"/>
                <a:ea typeface="MS Gothic" panose="020B0609070205080204" pitchFamily="49" charset="-128"/>
                <a:cs typeface="Times New Roman" panose="02020603050405020304" pitchFamily="18" charset="0"/>
              </a:rPr>
              <a:t>Vision </a:t>
            </a:r>
            <a:r>
              <a:rPr lang="en-US" sz="28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Statement</a:t>
            </a:r>
            <a:endParaRPr lang="en-SG" sz="28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en-US" sz="2000" dirty="0">
                <a:latin typeface="Cambria" panose="02040503050406030204" pitchFamily="18" charset="0"/>
                <a:ea typeface="MS Mincho"/>
                <a:cs typeface="Times New Roman" panose="02020603050405020304" pitchFamily="18" charset="0"/>
              </a:rPr>
              <a:t>To see children </a:t>
            </a:r>
            <a:r>
              <a:rPr lang="en-US" sz="2000" dirty="0" smtClean="0">
                <a:latin typeface="Cambria" panose="02040503050406030204" pitchFamily="18" charset="0"/>
                <a:ea typeface="MS Mincho"/>
                <a:cs typeface="Times New Roman" panose="02020603050405020304" pitchFamily="18" charset="0"/>
              </a:rPr>
              <a:t>and youth </a:t>
            </a:r>
            <a:r>
              <a:rPr lang="en-US" sz="2000" dirty="0">
                <a:latin typeface="Cambria" panose="02040503050406030204" pitchFamily="18" charset="0"/>
                <a:ea typeface="MS Mincho"/>
                <a:cs typeface="Times New Roman" panose="02020603050405020304" pitchFamily="18" charset="0"/>
              </a:rPr>
              <a:t>transformed by Christ, growing spiritually, emotionally, intellectually, socially, and physically, and becoming leaders who bring hope and change to their communities</a:t>
            </a:r>
            <a:endParaRPr lang="en-SG" sz="2000" dirty="0"/>
          </a:p>
        </p:txBody>
      </p:sp>
      <p:sp>
        <p:nvSpPr>
          <p:cNvPr id="5" name="Rectangle 4"/>
          <p:cNvSpPr/>
          <p:nvPr/>
        </p:nvSpPr>
        <p:spPr>
          <a:xfrm>
            <a:off x="1995280" y="3062688"/>
            <a:ext cx="4884671" cy="584775"/>
          </a:xfrm>
          <a:prstGeom prst="rect">
            <a:avLst/>
          </a:prstGeom>
        </p:spPr>
        <p:txBody>
          <a:bodyPr wrap="none">
            <a:spAutoFit/>
          </a:bodyPr>
          <a:lstStyle/>
          <a:p>
            <a:r>
              <a:rPr lang="en-US" sz="3200" b="1" dirty="0">
                <a:solidFill>
                  <a:srgbClr val="C00000"/>
                </a:solidFill>
              </a:rPr>
              <a:t>The Beginning of His Calling</a:t>
            </a:r>
            <a:endParaRPr lang="en-SG" sz="3200" b="1" dirty="0">
              <a:solidFill>
                <a:srgbClr val="C00000"/>
              </a:solidFill>
            </a:endParaRPr>
          </a:p>
        </p:txBody>
      </p:sp>
      <p:pic>
        <p:nvPicPr>
          <p:cNvPr id="6" name="Picture 5"/>
          <p:cNvPicPr>
            <a:picLocks noChangeAspect="1"/>
          </p:cNvPicPr>
          <p:nvPr/>
        </p:nvPicPr>
        <p:blipFill>
          <a:blip r:embed="rId5"/>
          <a:stretch>
            <a:fillRect/>
          </a:stretch>
        </p:blipFill>
        <p:spPr>
          <a:xfrm>
            <a:off x="474593" y="5158624"/>
            <a:ext cx="4548010" cy="493819"/>
          </a:xfrm>
          <a:prstGeom prst="rect">
            <a:avLst/>
          </a:prstGeom>
        </p:spPr>
      </p:pic>
      <p:pic>
        <p:nvPicPr>
          <p:cNvPr id="8" name="Picture 7"/>
          <p:cNvPicPr>
            <a:picLocks noChangeAspect="1"/>
          </p:cNvPicPr>
          <p:nvPr/>
        </p:nvPicPr>
        <p:blipFill>
          <a:blip r:embed="rId6"/>
          <a:stretch>
            <a:fillRect/>
          </a:stretch>
        </p:blipFill>
        <p:spPr>
          <a:xfrm>
            <a:off x="824216" y="5553137"/>
            <a:ext cx="5352752" cy="493819"/>
          </a:xfrm>
          <a:prstGeom prst="rect">
            <a:avLst/>
          </a:prstGeom>
        </p:spPr>
      </p:pic>
    </p:spTree>
    <p:extLst>
      <p:ext uri="{BB962C8B-B14F-4D97-AF65-F5344CB8AC3E}">
        <p14:creationId xmlns:p14="http://schemas.microsoft.com/office/powerpoint/2010/main" val="1554536089"/>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7469" y="72390"/>
            <a:ext cx="2000531" cy="13883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57278" y="1728075"/>
            <a:ext cx="7543887" cy="1047979"/>
          </a:xfrm>
          <a:prstGeom prst="rect">
            <a:avLst/>
          </a:prstGeom>
        </p:spPr>
        <p:txBody>
          <a:bodyPr wrap="square">
            <a:spAutoFit/>
          </a:bodyPr>
          <a:lstStyle/>
          <a:p>
            <a:pPr>
              <a:lnSpc>
                <a:spcPct val="115000"/>
              </a:lnSpc>
              <a:spcBef>
                <a:spcPts val="2400"/>
              </a:spcBef>
              <a:spcAft>
                <a:spcPts val="0"/>
              </a:spcAft>
            </a:pPr>
            <a:r>
              <a:rPr lang="en-US" dirty="0" smtClean="0">
                <a:latin typeface="Cambria" panose="02040503050406030204" pitchFamily="18" charset="0"/>
                <a:ea typeface="MS Mincho"/>
                <a:cs typeface="Times New Roman" panose="02020603050405020304" pitchFamily="18" charset="0"/>
              </a:rPr>
              <a:t>.To </a:t>
            </a:r>
            <a:r>
              <a:rPr lang="en-US" dirty="0">
                <a:latin typeface="Cambria" panose="02040503050406030204" pitchFamily="18" charset="0"/>
                <a:ea typeface="MS Mincho"/>
                <a:cs typeface="Times New Roman" panose="02020603050405020304" pitchFamily="18" charset="0"/>
              </a:rPr>
              <a:t>disciple, equip, and empower children and </a:t>
            </a:r>
            <a:r>
              <a:rPr lang="en-US" dirty="0" smtClean="0">
                <a:latin typeface="Cambria" panose="02040503050406030204" pitchFamily="18" charset="0"/>
                <a:ea typeface="MS Mincho"/>
                <a:cs typeface="Times New Roman" panose="02020603050405020304" pitchFamily="18" charset="0"/>
              </a:rPr>
              <a:t>youth </a:t>
            </a:r>
            <a:r>
              <a:rPr lang="en-US" dirty="0">
                <a:latin typeface="Cambria" panose="02040503050406030204" pitchFamily="18" charset="0"/>
                <a:ea typeface="MS Mincho"/>
                <a:cs typeface="Times New Roman" panose="02020603050405020304" pitchFamily="18" charset="0"/>
              </a:rPr>
              <a:t>through biblical teaching, mentoring, education, life skills, and community engagement, nurturing them to live out their faith in practical ways.</a:t>
            </a:r>
            <a:endParaRPr lang="en-SG" dirty="0">
              <a:effectLst/>
              <a:latin typeface="Cambria" panose="02040503050406030204" pitchFamily="18" charset="0"/>
              <a:ea typeface="MS Mincho"/>
              <a:cs typeface="Times New Roman" panose="02020603050405020304" pitchFamily="18" charset="0"/>
            </a:endParaRPr>
          </a:p>
        </p:txBody>
      </p:sp>
      <p:sp>
        <p:nvSpPr>
          <p:cNvPr id="10" name="Rectangle 9"/>
          <p:cNvSpPr/>
          <p:nvPr/>
        </p:nvSpPr>
        <p:spPr>
          <a:xfrm>
            <a:off x="7438852" y="1152913"/>
            <a:ext cx="1354858" cy="307777"/>
          </a:xfrm>
          <a:prstGeom prst="rect">
            <a:avLst/>
          </a:prstGeom>
        </p:spPr>
        <p:txBody>
          <a:bodyPr wrap="none">
            <a:spAutoFit/>
          </a:bodyPr>
          <a:lstStyle/>
          <a:p>
            <a:r>
              <a:rPr lang="en-SG" sz="1400" dirty="0"/>
              <a:t>Living the vision</a:t>
            </a:r>
          </a:p>
        </p:txBody>
      </p:sp>
      <p:sp>
        <p:nvSpPr>
          <p:cNvPr id="3" name="Rectangle 2"/>
          <p:cNvSpPr/>
          <p:nvPr/>
        </p:nvSpPr>
        <p:spPr>
          <a:xfrm>
            <a:off x="3771300" y="6276588"/>
            <a:ext cx="1626214" cy="369332"/>
          </a:xfrm>
          <a:prstGeom prst="rect">
            <a:avLst/>
          </a:prstGeom>
        </p:spPr>
        <p:txBody>
          <a:bodyPr wrap="none">
            <a:spAutoFit/>
          </a:bodyPr>
          <a:lstStyle/>
          <a:p>
            <a:r>
              <a:rPr lang="en-SG" b="1" dirty="0">
                <a:solidFill>
                  <a:schemeClr val="tx1">
                    <a:lumMod val="65000"/>
                    <a:lumOff val="35000"/>
                  </a:schemeClr>
                </a:solidFill>
              </a:rPr>
              <a:t>Holy command</a:t>
            </a:r>
          </a:p>
        </p:txBody>
      </p:sp>
      <p:pic>
        <p:nvPicPr>
          <p:cNvPr id="7" name="Picture 6"/>
          <p:cNvPicPr>
            <a:picLocks noChangeAspect="1"/>
          </p:cNvPicPr>
          <p:nvPr/>
        </p:nvPicPr>
        <p:blipFill>
          <a:blip r:embed="rId4"/>
          <a:stretch>
            <a:fillRect/>
          </a:stretch>
        </p:blipFill>
        <p:spPr>
          <a:xfrm>
            <a:off x="535867" y="2900281"/>
            <a:ext cx="4985702" cy="3284268"/>
          </a:xfrm>
          <a:prstGeom prst="rect">
            <a:avLst/>
          </a:prstGeom>
        </p:spPr>
      </p:pic>
      <p:pic>
        <p:nvPicPr>
          <p:cNvPr id="4" name="Picture 3"/>
          <p:cNvPicPr>
            <a:picLocks noChangeAspect="1"/>
          </p:cNvPicPr>
          <p:nvPr/>
        </p:nvPicPr>
        <p:blipFill>
          <a:blip r:embed="rId5"/>
          <a:stretch>
            <a:fillRect/>
          </a:stretch>
        </p:blipFill>
        <p:spPr>
          <a:xfrm>
            <a:off x="2246816" y="1016361"/>
            <a:ext cx="3565938" cy="640135"/>
          </a:xfrm>
          <a:prstGeom prst="rect">
            <a:avLst/>
          </a:prstGeom>
        </p:spPr>
      </p:pic>
    </p:spTree>
    <p:extLst>
      <p:ext uri="{BB962C8B-B14F-4D97-AF65-F5344CB8AC3E}">
        <p14:creationId xmlns:p14="http://schemas.microsoft.com/office/powerpoint/2010/main" val="11068162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8485" y="31413"/>
            <a:ext cx="1888809" cy="14105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4"/>
          <a:stretch>
            <a:fillRect/>
          </a:stretch>
        </p:blipFill>
        <p:spPr>
          <a:xfrm>
            <a:off x="7528239" y="1085114"/>
            <a:ext cx="1364077" cy="493819"/>
          </a:xfrm>
          <a:prstGeom prst="rect">
            <a:avLst/>
          </a:prstGeom>
        </p:spPr>
      </p:pic>
      <p:sp>
        <p:nvSpPr>
          <p:cNvPr id="8" name="AutoShape 2" descr="https://cjslines.com:2096/cpsess2324961250/3rdparty/roundcube/?_task=mail&amp;_action=get&amp;_mbox=INBOX&amp;_uid=116816&amp;_token=L26doJoEPsl9ZzpErOlihA0GbieOEJTs&amp;_part=2&amp;_embed=1&amp;_mimeclass=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3" name="Rectangle 2"/>
          <p:cNvSpPr/>
          <p:nvPr/>
        </p:nvSpPr>
        <p:spPr>
          <a:xfrm>
            <a:off x="2345832" y="111860"/>
            <a:ext cx="2987196" cy="584775"/>
          </a:xfrm>
          <a:prstGeom prst="rect">
            <a:avLst/>
          </a:prstGeom>
        </p:spPr>
        <p:txBody>
          <a:bodyPr wrap="square">
            <a:spAutoFit/>
          </a:bodyPr>
          <a:lstStyle/>
          <a:p>
            <a:r>
              <a:rPr lang="en-SG" sz="3200" b="1" dirty="0">
                <a:solidFill>
                  <a:srgbClr val="C00000"/>
                </a:solidFill>
              </a:rPr>
              <a:t>Bloom of </a:t>
            </a:r>
            <a:r>
              <a:rPr lang="en-SG" sz="3200" b="1" dirty="0" smtClean="0">
                <a:solidFill>
                  <a:srgbClr val="C00000"/>
                </a:solidFill>
              </a:rPr>
              <a:t>Hope</a:t>
            </a:r>
            <a:endParaRPr lang="en-SG" sz="3200" b="1" dirty="0">
              <a:solidFill>
                <a:srgbClr val="C00000"/>
              </a:solidFill>
            </a:endParaRPr>
          </a:p>
        </p:txBody>
      </p:sp>
      <p:pic>
        <p:nvPicPr>
          <p:cNvPr id="6" name="Picture 5"/>
          <p:cNvPicPr>
            <a:picLocks noChangeAspect="1"/>
          </p:cNvPicPr>
          <p:nvPr/>
        </p:nvPicPr>
        <p:blipFill>
          <a:blip r:embed="rId5"/>
          <a:stretch>
            <a:fillRect/>
          </a:stretch>
        </p:blipFill>
        <p:spPr>
          <a:xfrm>
            <a:off x="155575" y="4676889"/>
            <a:ext cx="2909234" cy="1743075"/>
          </a:xfrm>
          <a:prstGeom prst="rect">
            <a:avLst/>
          </a:prstGeom>
        </p:spPr>
      </p:pic>
      <p:pic>
        <p:nvPicPr>
          <p:cNvPr id="7" name="Picture 6"/>
          <p:cNvPicPr>
            <a:picLocks noChangeAspect="1"/>
          </p:cNvPicPr>
          <p:nvPr/>
        </p:nvPicPr>
        <p:blipFill>
          <a:blip r:embed="rId6"/>
          <a:stretch>
            <a:fillRect/>
          </a:stretch>
        </p:blipFill>
        <p:spPr>
          <a:xfrm>
            <a:off x="3021808" y="2534224"/>
            <a:ext cx="2466975" cy="1847850"/>
          </a:xfrm>
          <a:prstGeom prst="rect">
            <a:avLst/>
          </a:prstGeom>
        </p:spPr>
      </p:pic>
      <p:pic>
        <p:nvPicPr>
          <p:cNvPr id="11" name="Picture 10"/>
          <p:cNvPicPr>
            <a:picLocks noChangeAspect="1"/>
          </p:cNvPicPr>
          <p:nvPr/>
        </p:nvPicPr>
        <p:blipFill>
          <a:blip r:embed="rId7"/>
          <a:stretch>
            <a:fillRect/>
          </a:stretch>
        </p:blipFill>
        <p:spPr>
          <a:xfrm>
            <a:off x="5718175" y="1572706"/>
            <a:ext cx="2628900" cy="1743075"/>
          </a:xfrm>
          <a:prstGeom prst="rect">
            <a:avLst/>
          </a:prstGeom>
        </p:spPr>
      </p:pic>
      <p:pic>
        <p:nvPicPr>
          <p:cNvPr id="12" name="Picture 11"/>
          <p:cNvPicPr>
            <a:picLocks noChangeAspect="1"/>
          </p:cNvPicPr>
          <p:nvPr/>
        </p:nvPicPr>
        <p:blipFill>
          <a:blip r:embed="rId8"/>
          <a:stretch>
            <a:fillRect/>
          </a:stretch>
        </p:blipFill>
        <p:spPr>
          <a:xfrm>
            <a:off x="5990796" y="3263410"/>
            <a:ext cx="2628900" cy="1743075"/>
          </a:xfrm>
          <a:prstGeom prst="rect">
            <a:avLst/>
          </a:prstGeom>
        </p:spPr>
      </p:pic>
      <p:pic>
        <p:nvPicPr>
          <p:cNvPr id="13" name="Picture 12"/>
          <p:cNvPicPr>
            <a:picLocks noChangeAspect="1"/>
          </p:cNvPicPr>
          <p:nvPr/>
        </p:nvPicPr>
        <p:blipFill>
          <a:blip r:embed="rId9"/>
          <a:stretch>
            <a:fillRect/>
          </a:stretch>
        </p:blipFill>
        <p:spPr>
          <a:xfrm>
            <a:off x="5944690" y="5006485"/>
            <a:ext cx="2943225" cy="1552575"/>
          </a:xfrm>
          <a:prstGeom prst="rect">
            <a:avLst/>
          </a:prstGeom>
        </p:spPr>
      </p:pic>
      <p:pic>
        <p:nvPicPr>
          <p:cNvPr id="14" name="Picture 13"/>
          <p:cNvPicPr>
            <a:picLocks noChangeAspect="1"/>
          </p:cNvPicPr>
          <p:nvPr/>
        </p:nvPicPr>
        <p:blipFill>
          <a:blip r:embed="rId10"/>
          <a:stretch>
            <a:fillRect/>
          </a:stretch>
        </p:blipFill>
        <p:spPr>
          <a:xfrm>
            <a:off x="240508" y="2552324"/>
            <a:ext cx="2619375" cy="1743075"/>
          </a:xfrm>
          <a:prstGeom prst="rect">
            <a:avLst/>
          </a:prstGeom>
        </p:spPr>
      </p:pic>
      <p:pic>
        <p:nvPicPr>
          <p:cNvPr id="15" name="Picture 14"/>
          <p:cNvPicPr>
            <a:picLocks noChangeAspect="1"/>
          </p:cNvPicPr>
          <p:nvPr/>
        </p:nvPicPr>
        <p:blipFill>
          <a:blip r:embed="rId11"/>
          <a:stretch>
            <a:fillRect/>
          </a:stretch>
        </p:blipFill>
        <p:spPr>
          <a:xfrm>
            <a:off x="3110915" y="4446709"/>
            <a:ext cx="2619375" cy="1743075"/>
          </a:xfrm>
          <a:prstGeom prst="rect">
            <a:avLst/>
          </a:prstGeom>
        </p:spPr>
      </p:pic>
      <p:pic>
        <p:nvPicPr>
          <p:cNvPr id="17" name="Picture 16"/>
          <p:cNvPicPr>
            <a:picLocks noChangeAspect="1"/>
          </p:cNvPicPr>
          <p:nvPr/>
        </p:nvPicPr>
        <p:blipFill>
          <a:blip r:embed="rId12"/>
          <a:stretch>
            <a:fillRect/>
          </a:stretch>
        </p:blipFill>
        <p:spPr>
          <a:xfrm>
            <a:off x="498695" y="844043"/>
            <a:ext cx="4722375" cy="1600200"/>
          </a:xfrm>
          <a:prstGeom prst="rect">
            <a:avLst/>
          </a:prstGeom>
        </p:spPr>
      </p:pic>
    </p:spTree>
    <p:extLst>
      <p:ext uri="{BB962C8B-B14F-4D97-AF65-F5344CB8AC3E}">
        <p14:creationId xmlns:p14="http://schemas.microsoft.com/office/powerpoint/2010/main" val="1181234375"/>
      </p:ext>
    </p:extLst>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8485" y="31413"/>
            <a:ext cx="1888809" cy="14105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4265352" y="4520599"/>
            <a:ext cx="3511794" cy="2152403"/>
          </a:xfrm>
          <a:prstGeom prst="rect">
            <a:avLst/>
          </a:prstGeom>
        </p:spPr>
      </p:pic>
      <p:pic>
        <p:nvPicPr>
          <p:cNvPr id="10" name="Picture 9"/>
          <p:cNvPicPr>
            <a:picLocks noChangeAspect="1"/>
          </p:cNvPicPr>
          <p:nvPr/>
        </p:nvPicPr>
        <p:blipFill>
          <a:blip r:embed="rId5"/>
          <a:stretch>
            <a:fillRect/>
          </a:stretch>
        </p:blipFill>
        <p:spPr>
          <a:xfrm>
            <a:off x="7528239" y="1085114"/>
            <a:ext cx="1364077" cy="493819"/>
          </a:xfrm>
          <a:prstGeom prst="rect">
            <a:avLst/>
          </a:prstGeom>
        </p:spPr>
      </p:pic>
      <p:pic>
        <p:nvPicPr>
          <p:cNvPr id="4" name="Picture 3"/>
          <p:cNvPicPr>
            <a:picLocks noChangeAspect="1"/>
          </p:cNvPicPr>
          <p:nvPr/>
        </p:nvPicPr>
        <p:blipFill>
          <a:blip r:embed="rId6"/>
          <a:stretch>
            <a:fillRect/>
          </a:stretch>
        </p:blipFill>
        <p:spPr>
          <a:xfrm>
            <a:off x="3898465" y="1073526"/>
            <a:ext cx="3320020" cy="1699832"/>
          </a:xfrm>
          <a:prstGeom prst="rect">
            <a:avLst/>
          </a:prstGeom>
        </p:spPr>
      </p:pic>
      <p:pic>
        <p:nvPicPr>
          <p:cNvPr id="5" name="Picture 4"/>
          <p:cNvPicPr>
            <a:picLocks noChangeAspect="1"/>
          </p:cNvPicPr>
          <p:nvPr/>
        </p:nvPicPr>
        <p:blipFill>
          <a:blip r:embed="rId7"/>
          <a:stretch>
            <a:fillRect/>
          </a:stretch>
        </p:blipFill>
        <p:spPr>
          <a:xfrm>
            <a:off x="460375" y="1085114"/>
            <a:ext cx="3031567" cy="1699832"/>
          </a:xfrm>
          <a:prstGeom prst="rect">
            <a:avLst/>
          </a:prstGeom>
        </p:spPr>
      </p:pic>
      <p:pic>
        <p:nvPicPr>
          <p:cNvPr id="1028" name="Picture 4" descr="Nepal Earthquake Leaves Shangrila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375" y="4561020"/>
            <a:ext cx="2934697" cy="2152403"/>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https://cjslines.com:2096/cpsess2324961250/3rdparty/roundcube/?_task=mail&amp;_action=get&amp;_mbox=INBOX&amp;_uid=116816&amp;_token=L26doJoEPsl9ZzpErOlihA0GbieOEJTs&amp;_part=2&amp;_embed=1&amp;_mimeclass=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2050" name="Picture 2" descr="Indians rally to help Rohingya refugee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6822" y="2794986"/>
            <a:ext cx="3308854" cy="20785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ailand urged not to push back Myanmar refugees - UCA New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2042" y="2943614"/>
            <a:ext cx="3038263" cy="17124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425793" y="232388"/>
            <a:ext cx="2827275" cy="523220"/>
          </a:xfrm>
          <a:prstGeom prst="rect">
            <a:avLst/>
          </a:prstGeom>
        </p:spPr>
        <p:txBody>
          <a:bodyPr wrap="square">
            <a:spAutoFit/>
          </a:bodyPr>
          <a:lstStyle/>
          <a:p>
            <a:r>
              <a:rPr lang="en-SG" sz="2800" b="1" dirty="0">
                <a:solidFill>
                  <a:srgbClr val="C00000"/>
                </a:solidFill>
              </a:rPr>
              <a:t>Bloom of </a:t>
            </a:r>
            <a:r>
              <a:rPr lang="en-SG" sz="2800" b="1" dirty="0" smtClean="0">
                <a:solidFill>
                  <a:srgbClr val="C00000"/>
                </a:solidFill>
              </a:rPr>
              <a:t>hope</a:t>
            </a:r>
            <a:endParaRPr lang="en-SG" sz="2800" b="1" dirty="0">
              <a:solidFill>
                <a:srgbClr val="C00000"/>
              </a:solidFill>
            </a:endParaRPr>
          </a:p>
        </p:txBody>
      </p:sp>
    </p:spTree>
    <p:extLst>
      <p:ext uri="{BB962C8B-B14F-4D97-AF65-F5344CB8AC3E}">
        <p14:creationId xmlns:p14="http://schemas.microsoft.com/office/powerpoint/2010/main" val="243905546"/>
      </p:ext>
    </p:extLst>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3992" y="6880"/>
            <a:ext cx="1752176" cy="12230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641237" y="963570"/>
            <a:ext cx="1686680" cy="307777"/>
          </a:xfrm>
          <a:prstGeom prst="rect">
            <a:avLst/>
          </a:prstGeom>
        </p:spPr>
        <p:txBody>
          <a:bodyPr wrap="square">
            <a:spAutoFit/>
          </a:bodyPr>
          <a:lstStyle/>
          <a:p>
            <a:r>
              <a:rPr lang="en-SG" sz="1400" dirty="0"/>
              <a:t>Living the vision</a:t>
            </a:r>
          </a:p>
        </p:txBody>
      </p:sp>
      <p:sp>
        <p:nvSpPr>
          <p:cNvPr id="5" name="Rectangle 4"/>
          <p:cNvSpPr/>
          <p:nvPr/>
        </p:nvSpPr>
        <p:spPr>
          <a:xfrm>
            <a:off x="800305" y="339961"/>
            <a:ext cx="6054187" cy="954107"/>
          </a:xfrm>
          <a:prstGeom prst="rect">
            <a:avLst/>
          </a:prstGeom>
        </p:spPr>
        <p:txBody>
          <a:bodyPr wrap="square">
            <a:spAutoFit/>
          </a:bodyPr>
          <a:lstStyle/>
          <a:p>
            <a:r>
              <a:rPr lang="en-US" sz="2800" b="1" dirty="0" smtClean="0">
                <a:solidFill>
                  <a:srgbClr val="FF0000"/>
                </a:solidFill>
              </a:rPr>
              <a:t>Inspirational Motivational</a:t>
            </a:r>
            <a:endParaRPr lang="en-US" sz="2800" b="1" dirty="0">
              <a:solidFill>
                <a:srgbClr val="FF0000"/>
              </a:solidFill>
            </a:endParaRPr>
          </a:p>
          <a:p>
            <a:r>
              <a:rPr lang="en-US" sz="2800" b="1" dirty="0" smtClean="0"/>
              <a:t>                   Turning </a:t>
            </a:r>
            <a:r>
              <a:rPr lang="en-US" sz="2800" b="1" dirty="0"/>
              <a:t>dreams into reality</a:t>
            </a:r>
            <a:endParaRPr lang="en-US" sz="2800" dirty="0"/>
          </a:p>
        </p:txBody>
      </p:sp>
      <p:sp>
        <p:nvSpPr>
          <p:cNvPr id="12" name="Rectangle 11"/>
          <p:cNvSpPr/>
          <p:nvPr/>
        </p:nvSpPr>
        <p:spPr>
          <a:xfrm>
            <a:off x="362797" y="1539536"/>
            <a:ext cx="6623580" cy="584775"/>
          </a:xfrm>
          <a:prstGeom prst="rect">
            <a:avLst/>
          </a:prstGeom>
        </p:spPr>
        <p:txBody>
          <a:bodyPr wrap="square">
            <a:spAutoFit/>
          </a:bodyPr>
          <a:lstStyle/>
          <a:p>
            <a:r>
              <a:rPr lang="en-US" sz="3200" b="1" dirty="0" smtClean="0"/>
              <a:t>Broad Vision</a:t>
            </a:r>
            <a:r>
              <a:rPr lang="en-US" sz="3200" dirty="0" smtClean="0"/>
              <a:t> SMART GOAL </a:t>
            </a:r>
          </a:p>
        </p:txBody>
      </p:sp>
      <p:sp>
        <p:nvSpPr>
          <p:cNvPr id="6" name="Rectangle 5"/>
          <p:cNvSpPr/>
          <p:nvPr/>
        </p:nvSpPr>
        <p:spPr>
          <a:xfrm>
            <a:off x="404445" y="2257563"/>
            <a:ext cx="8080132" cy="3970318"/>
          </a:xfrm>
          <a:prstGeom prst="rect">
            <a:avLst/>
          </a:prstGeom>
        </p:spPr>
        <p:txBody>
          <a:bodyPr wrap="square">
            <a:spAutoFit/>
          </a:bodyPr>
          <a:lstStyle/>
          <a:p>
            <a:r>
              <a:rPr lang="en-US" b="1" dirty="0" smtClean="0">
                <a:solidFill>
                  <a:srgbClr val="C00000"/>
                </a:solidFill>
              </a:rPr>
              <a:t>Specific:</a:t>
            </a:r>
            <a:r>
              <a:rPr lang="en-US" dirty="0" smtClean="0"/>
              <a:t/>
            </a:r>
            <a:br>
              <a:rPr lang="en-US" dirty="0" smtClean="0"/>
            </a:br>
            <a:r>
              <a:rPr lang="en-US" dirty="0" smtClean="0"/>
              <a:t>Support children and youth by providing programs that improve their lifestyle, values, work skills, and character development IN CHRIST LIKE</a:t>
            </a:r>
          </a:p>
          <a:p>
            <a:r>
              <a:rPr lang="en-US" b="1" dirty="0" smtClean="0">
                <a:solidFill>
                  <a:srgbClr val="C00000"/>
                </a:solidFill>
              </a:rPr>
              <a:t>Measurable</a:t>
            </a:r>
            <a:r>
              <a:rPr lang="en-US" b="1" dirty="0">
                <a:solidFill>
                  <a:srgbClr val="C00000"/>
                </a:solidFill>
              </a:rPr>
              <a:t>:</a:t>
            </a:r>
            <a:r>
              <a:rPr lang="en-US" dirty="0"/>
              <a:t/>
            </a:r>
            <a:br>
              <a:rPr lang="en-US" dirty="0"/>
            </a:br>
            <a:r>
              <a:rPr lang="en-US" dirty="0"/>
              <a:t>Engage at least </a:t>
            </a:r>
            <a:r>
              <a:rPr lang="en-US" dirty="0" smtClean="0"/>
              <a:t>50 </a:t>
            </a:r>
            <a:r>
              <a:rPr lang="en-US" dirty="0"/>
              <a:t>children and youth each year through weekly workshops and mentorship </a:t>
            </a:r>
            <a:r>
              <a:rPr lang="en-US" dirty="0" smtClean="0"/>
              <a:t>programs WITH GOOD CHARACTER INSTRUCTOR ENGAGE.</a:t>
            </a:r>
            <a:endParaRPr lang="en-US" dirty="0"/>
          </a:p>
          <a:p>
            <a:r>
              <a:rPr lang="en-US" b="1" dirty="0">
                <a:solidFill>
                  <a:srgbClr val="C00000"/>
                </a:solidFill>
              </a:rPr>
              <a:t>Achievable:</a:t>
            </a:r>
            <a:r>
              <a:rPr lang="en-US" dirty="0"/>
              <a:t/>
            </a:r>
            <a:br>
              <a:rPr lang="en-US" dirty="0"/>
            </a:br>
            <a:r>
              <a:rPr lang="en-US" dirty="0"/>
              <a:t>Partner with local schools, churches, and community centers to deliver these </a:t>
            </a:r>
            <a:r>
              <a:rPr lang="en-US" dirty="0" smtClean="0"/>
              <a:t>programs. (Local school, vocational center)</a:t>
            </a:r>
            <a:endParaRPr lang="en-US" dirty="0"/>
          </a:p>
          <a:p>
            <a:r>
              <a:rPr lang="en-US" b="1" dirty="0">
                <a:solidFill>
                  <a:srgbClr val="C00000"/>
                </a:solidFill>
              </a:rPr>
              <a:t>Relevant:</a:t>
            </a:r>
            <a:r>
              <a:rPr lang="en-US" dirty="0"/>
              <a:t/>
            </a:r>
            <a:br>
              <a:rPr lang="en-US" dirty="0"/>
            </a:br>
            <a:r>
              <a:rPr lang="en-SG" dirty="0"/>
              <a:t>Equip </a:t>
            </a:r>
            <a:r>
              <a:rPr lang="en-US" dirty="0" smtClean="0"/>
              <a:t>Focus </a:t>
            </a:r>
            <a:r>
              <a:rPr lang="en-US" dirty="0"/>
              <a:t>on building a better community and fostering spiritual growth by </a:t>
            </a:r>
            <a:r>
              <a:rPr lang="en-US" dirty="0" smtClean="0"/>
              <a:t>INTRODUCING JESUS in </a:t>
            </a:r>
            <a:r>
              <a:rPr lang="en-US" dirty="0"/>
              <a:t>all activities.</a:t>
            </a:r>
          </a:p>
          <a:p>
            <a:r>
              <a:rPr lang="en-US" b="1" dirty="0">
                <a:solidFill>
                  <a:srgbClr val="C00000"/>
                </a:solidFill>
              </a:rPr>
              <a:t>Time-bound:</a:t>
            </a:r>
            <a:r>
              <a:rPr lang="en-US" dirty="0"/>
              <a:t/>
            </a:r>
            <a:br>
              <a:rPr lang="en-US" dirty="0"/>
            </a:br>
            <a:r>
              <a:rPr lang="en-US" dirty="0"/>
              <a:t>Achieve these targets within the next </a:t>
            </a:r>
            <a:r>
              <a:rPr lang="en-US" dirty="0" smtClean="0"/>
              <a:t>36 MONTHs</a:t>
            </a:r>
            <a:r>
              <a:rPr lang="en-US" dirty="0"/>
              <a:t>.</a:t>
            </a:r>
          </a:p>
        </p:txBody>
      </p:sp>
    </p:spTree>
    <p:extLst>
      <p:ext uri="{BB962C8B-B14F-4D97-AF65-F5344CB8AC3E}">
        <p14:creationId xmlns:p14="http://schemas.microsoft.com/office/powerpoint/2010/main" val="739315443"/>
      </p:ext>
    </p:extLst>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900" y="0"/>
            <a:ext cx="2039815" cy="14155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18744" y="1525280"/>
            <a:ext cx="8115303" cy="4500719"/>
          </a:xfrm>
          <a:prstGeom prst="rect">
            <a:avLst/>
          </a:prstGeom>
        </p:spPr>
        <p:txBody>
          <a:bodyPr wrap="square">
            <a:spAutoFit/>
          </a:bodyPr>
          <a:lstStyle/>
          <a:p>
            <a:pPr>
              <a:lnSpc>
                <a:spcPct val="115000"/>
              </a:lnSpc>
              <a:spcAft>
                <a:spcPts val="1000"/>
              </a:spcAft>
            </a:pPr>
            <a:r>
              <a:rPr lang="en-US" sz="2400" dirty="0" smtClean="0">
                <a:latin typeface="Cambria" panose="02040503050406030204" pitchFamily="18" charset="0"/>
                <a:ea typeface="MS Mincho"/>
                <a:cs typeface="Times New Roman" panose="02020603050405020304" pitchFamily="18" charset="0"/>
              </a:rPr>
              <a:t>Objective</a:t>
            </a:r>
            <a:r>
              <a:rPr lang="en-US" sz="2400" dirty="0">
                <a:latin typeface="Cambria" panose="02040503050406030204" pitchFamily="18" charset="0"/>
                <a:ea typeface="MS Mincho"/>
                <a:cs typeface="Times New Roman" panose="02020603050405020304" pitchFamily="18" charset="0"/>
              </a:rPr>
              <a:t>: Improve health and healthy lifestyles among </a:t>
            </a:r>
            <a:r>
              <a:rPr lang="en-US" sz="2400" dirty="0" smtClean="0">
                <a:latin typeface="Cambria" panose="02040503050406030204" pitchFamily="18" charset="0"/>
                <a:ea typeface="MS Mincho"/>
                <a:cs typeface="Times New Roman" panose="02020603050405020304" pitchFamily="18" charset="0"/>
              </a:rPr>
              <a:t>children youth</a:t>
            </a:r>
            <a:r>
              <a:rPr lang="en-US" sz="2400" dirty="0">
                <a:latin typeface="Cambria" panose="02040503050406030204" pitchFamily="18" charset="0"/>
                <a:ea typeface="MS Mincho"/>
                <a:cs typeface="Times New Roman" panose="02020603050405020304" pitchFamily="18" charset="0"/>
              </a:rPr>
              <a:t>.</a:t>
            </a:r>
            <a:endParaRPr lang="en-SG" sz="2400" dirty="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2400" dirty="0">
                <a:latin typeface="Cambria" panose="02040503050406030204" pitchFamily="18" charset="0"/>
                <a:ea typeface="MS Mincho"/>
                <a:cs typeface="Times New Roman" panose="02020603050405020304" pitchFamily="18" charset="0"/>
              </a:rPr>
              <a:t>Strategies:</a:t>
            </a:r>
            <a:endParaRPr lang="en-SG" sz="2400"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sz="2400" dirty="0">
                <a:latin typeface="Cambria" panose="02040503050406030204" pitchFamily="18" charset="0"/>
                <a:ea typeface="MS Mincho"/>
                <a:cs typeface="Times New Roman" panose="02020603050405020304" pitchFamily="18" charset="0"/>
              </a:rPr>
              <a:t>• Hygiene and nutrition education.</a:t>
            </a:r>
            <a:endParaRPr lang="en-SG" sz="2400"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sz="2400" dirty="0">
                <a:latin typeface="Cambria" panose="02040503050406030204" pitchFamily="18" charset="0"/>
                <a:ea typeface="MS Mincho"/>
                <a:cs typeface="Times New Roman" panose="02020603050405020304" pitchFamily="18" charset="0"/>
              </a:rPr>
              <a:t>• Sports and outdoor activities.</a:t>
            </a:r>
            <a:endParaRPr lang="en-SG" sz="2400"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sz="2400" dirty="0">
                <a:latin typeface="Cambria" panose="02040503050406030204" pitchFamily="18" charset="0"/>
                <a:ea typeface="MS Mincho"/>
                <a:cs typeface="Times New Roman" panose="02020603050405020304" pitchFamily="18" charset="0"/>
              </a:rPr>
              <a:t>• Partner with clinics for annual health check-ups.</a:t>
            </a:r>
            <a:endParaRPr lang="en-SG" sz="2400" dirty="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2400" dirty="0">
                <a:latin typeface="Cambria" panose="02040503050406030204" pitchFamily="18" charset="0"/>
                <a:ea typeface="MS Mincho"/>
                <a:cs typeface="Times New Roman" panose="02020603050405020304" pitchFamily="18" charset="0"/>
              </a:rPr>
              <a:t>Indicators of </a:t>
            </a:r>
            <a:r>
              <a:rPr lang="en-US" sz="2400" dirty="0" smtClean="0">
                <a:latin typeface="Cambria" panose="02040503050406030204" pitchFamily="18" charset="0"/>
                <a:ea typeface="MS Mincho"/>
                <a:cs typeface="Times New Roman" panose="02020603050405020304" pitchFamily="18" charset="0"/>
              </a:rPr>
              <a:t>Success (Aim):</a:t>
            </a:r>
            <a:endParaRPr lang="en-SG" sz="2400"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sz="2400" dirty="0">
                <a:latin typeface="Cambria" panose="02040503050406030204" pitchFamily="18" charset="0"/>
                <a:ea typeface="MS Mincho"/>
                <a:cs typeface="Times New Roman" panose="02020603050405020304" pitchFamily="18" charset="0"/>
              </a:rPr>
              <a:t>• </a:t>
            </a:r>
            <a:r>
              <a:rPr lang="en-US" sz="2400" dirty="0" smtClean="0">
                <a:latin typeface="Cambria" panose="02040503050406030204" pitchFamily="18" charset="0"/>
                <a:ea typeface="MS Mincho"/>
                <a:cs typeface="Times New Roman" panose="02020603050405020304" pitchFamily="18" charset="0"/>
              </a:rPr>
              <a:t>Ensure 90</a:t>
            </a:r>
            <a:r>
              <a:rPr lang="en-US" sz="2400" dirty="0">
                <a:latin typeface="Cambria" panose="02040503050406030204" pitchFamily="18" charset="0"/>
                <a:ea typeface="MS Mincho"/>
                <a:cs typeface="Times New Roman" panose="02020603050405020304" pitchFamily="18" charset="0"/>
              </a:rPr>
              <a:t>% of children adopt healthy hygiene </a:t>
            </a:r>
            <a:r>
              <a:rPr lang="en-US" sz="2400" dirty="0" smtClean="0">
                <a:latin typeface="Cambria" panose="02040503050406030204" pitchFamily="18" charset="0"/>
                <a:ea typeface="MS Mincho"/>
                <a:cs typeface="Times New Roman" panose="02020603050405020304" pitchFamily="18" charset="0"/>
              </a:rPr>
              <a:t> practices</a:t>
            </a:r>
            <a:r>
              <a:rPr lang="en-US" sz="2400" dirty="0">
                <a:latin typeface="Cambria" panose="02040503050406030204" pitchFamily="18" charset="0"/>
                <a:ea typeface="MS Mincho"/>
                <a:cs typeface="Times New Roman" panose="02020603050405020304" pitchFamily="18" charset="0"/>
              </a:rPr>
              <a:t>.</a:t>
            </a:r>
            <a:endParaRPr lang="en-SG" sz="2400" dirty="0">
              <a:latin typeface="Cambria" panose="02040503050406030204" pitchFamily="18" charset="0"/>
              <a:ea typeface="MS Mincho"/>
              <a:cs typeface="Times New Roman" panose="02020603050405020304" pitchFamily="18" charset="0"/>
            </a:endParaRPr>
          </a:p>
          <a:p>
            <a:r>
              <a:rPr lang="en-US" sz="2400" dirty="0">
                <a:latin typeface="Cambria" panose="02040503050406030204" pitchFamily="18" charset="0"/>
                <a:ea typeface="MS Mincho"/>
                <a:cs typeface="Times New Roman" panose="02020603050405020304" pitchFamily="18" charset="0"/>
              </a:rPr>
              <a:t>• </a:t>
            </a:r>
            <a:r>
              <a:rPr lang="en-US" sz="2400" dirty="0" smtClean="0">
                <a:latin typeface="Cambria" panose="02040503050406030204" pitchFamily="18" charset="0"/>
                <a:ea typeface="MS Mincho"/>
                <a:cs typeface="Times New Roman" panose="02020603050405020304" pitchFamily="18" charset="0"/>
              </a:rPr>
              <a:t>Ensure to Reduce </a:t>
            </a:r>
            <a:r>
              <a:rPr lang="en-US" sz="2400" dirty="0">
                <a:latin typeface="Cambria" panose="02040503050406030204" pitchFamily="18" charset="0"/>
                <a:ea typeface="MS Mincho"/>
                <a:cs typeface="Times New Roman" panose="02020603050405020304" pitchFamily="18" charset="0"/>
              </a:rPr>
              <a:t>in preventable illnesses</a:t>
            </a:r>
            <a:endParaRPr lang="en-SG" sz="2400" dirty="0"/>
          </a:p>
        </p:txBody>
      </p:sp>
      <p:sp>
        <p:nvSpPr>
          <p:cNvPr id="7" name="Rectangle 6"/>
          <p:cNvSpPr/>
          <p:nvPr/>
        </p:nvSpPr>
        <p:spPr>
          <a:xfrm>
            <a:off x="7333506" y="1133739"/>
            <a:ext cx="1686680" cy="369332"/>
          </a:xfrm>
          <a:prstGeom prst="rect">
            <a:avLst/>
          </a:prstGeom>
        </p:spPr>
        <p:txBody>
          <a:bodyPr wrap="none">
            <a:spAutoFit/>
          </a:bodyPr>
          <a:lstStyle/>
          <a:p>
            <a:r>
              <a:rPr lang="en-SG" dirty="0"/>
              <a:t>Living the vision</a:t>
            </a:r>
          </a:p>
        </p:txBody>
      </p:sp>
      <p:sp>
        <p:nvSpPr>
          <p:cNvPr id="2" name="Rectangle 1"/>
          <p:cNvSpPr/>
          <p:nvPr/>
        </p:nvSpPr>
        <p:spPr>
          <a:xfrm>
            <a:off x="1637760" y="680187"/>
            <a:ext cx="4761368" cy="658642"/>
          </a:xfrm>
          <a:prstGeom prst="rect">
            <a:avLst/>
          </a:prstGeom>
        </p:spPr>
        <p:txBody>
          <a:bodyPr wrap="none">
            <a:spAutoFit/>
          </a:bodyPr>
          <a:lstStyle/>
          <a:p>
            <a:pPr>
              <a:lnSpc>
                <a:spcPct val="115000"/>
              </a:lnSpc>
              <a:spcBef>
                <a:spcPts val="1000"/>
              </a:spcBef>
              <a:spcAft>
                <a:spcPts val="0"/>
              </a:spcAft>
            </a:pPr>
            <a:r>
              <a:rPr lang="en-US" sz="32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Physical Health &amp; Wellness</a:t>
            </a:r>
            <a:endParaRPr lang="en-SG" sz="32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3" name="TextBox 2"/>
          <p:cNvSpPr txBox="1"/>
          <p:nvPr/>
        </p:nvSpPr>
        <p:spPr>
          <a:xfrm>
            <a:off x="3015762" y="136401"/>
            <a:ext cx="1707712" cy="461665"/>
          </a:xfrm>
          <a:prstGeom prst="rect">
            <a:avLst/>
          </a:prstGeom>
          <a:noFill/>
        </p:spPr>
        <p:txBody>
          <a:bodyPr wrap="none" rtlCol="0">
            <a:spAutoFit/>
          </a:bodyPr>
          <a:lstStyle/>
          <a:p>
            <a:r>
              <a:rPr lang="en-SG" sz="2400" b="1" dirty="0" smtClean="0">
                <a:solidFill>
                  <a:srgbClr val="C00000"/>
                </a:solidFill>
              </a:rPr>
              <a:t>INTRODUCE</a:t>
            </a:r>
            <a:endParaRPr lang="en-SG" sz="2400" b="1" dirty="0">
              <a:solidFill>
                <a:srgbClr val="C00000"/>
              </a:solidFill>
            </a:endParaRPr>
          </a:p>
        </p:txBody>
      </p:sp>
      <p:sp>
        <p:nvSpPr>
          <p:cNvPr id="5" name="Rectangle 4"/>
          <p:cNvSpPr/>
          <p:nvPr/>
        </p:nvSpPr>
        <p:spPr>
          <a:xfrm>
            <a:off x="7631725" y="6190241"/>
            <a:ext cx="1294484" cy="461665"/>
          </a:xfrm>
          <a:prstGeom prst="rect">
            <a:avLst/>
          </a:prstGeom>
        </p:spPr>
        <p:txBody>
          <a:bodyPr wrap="square">
            <a:spAutoFit/>
          </a:bodyPr>
          <a:lstStyle/>
          <a:p>
            <a:r>
              <a:rPr lang="en-SG" sz="2400" dirty="0">
                <a:solidFill>
                  <a:schemeClr val="tx2">
                    <a:lumMod val="75000"/>
                  </a:schemeClr>
                </a:solidFill>
              </a:rPr>
              <a:t>Launch</a:t>
            </a:r>
          </a:p>
        </p:txBody>
      </p:sp>
    </p:spTree>
    <p:extLst>
      <p:ext uri="{BB962C8B-B14F-4D97-AF65-F5344CB8AC3E}">
        <p14:creationId xmlns:p14="http://schemas.microsoft.com/office/powerpoint/2010/main" val="138072611"/>
      </p:ext>
    </p:extLst>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3469" y="73842"/>
            <a:ext cx="1537279" cy="12620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733998" y="1067449"/>
            <a:ext cx="1686680" cy="261610"/>
          </a:xfrm>
          <a:prstGeom prst="rect">
            <a:avLst/>
          </a:prstGeom>
        </p:spPr>
        <p:txBody>
          <a:bodyPr wrap="square">
            <a:spAutoFit/>
          </a:bodyPr>
          <a:lstStyle/>
          <a:p>
            <a:r>
              <a:rPr lang="en-SG" sz="1100" dirty="0"/>
              <a:t>Living the vision</a:t>
            </a:r>
          </a:p>
        </p:txBody>
      </p:sp>
      <p:sp>
        <p:nvSpPr>
          <p:cNvPr id="3" name="Rectangle 2"/>
          <p:cNvSpPr/>
          <p:nvPr/>
        </p:nvSpPr>
        <p:spPr>
          <a:xfrm>
            <a:off x="6323997" y="6109999"/>
            <a:ext cx="2820003" cy="658642"/>
          </a:xfrm>
          <a:prstGeom prst="rect">
            <a:avLst/>
          </a:prstGeom>
        </p:spPr>
        <p:txBody>
          <a:bodyPr wrap="none">
            <a:spAutoFit/>
          </a:bodyPr>
          <a:lstStyle/>
          <a:p>
            <a:pPr>
              <a:lnSpc>
                <a:spcPct val="115000"/>
              </a:lnSpc>
              <a:spcBef>
                <a:spcPts val="2400"/>
              </a:spcBef>
              <a:spcAft>
                <a:spcPts val="0"/>
              </a:spcAft>
            </a:pPr>
            <a:r>
              <a:rPr lang="en-US" sz="32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Strategic Goals </a:t>
            </a:r>
            <a:endParaRPr lang="en-SG" sz="32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11" name="Rectangle 10"/>
          <p:cNvSpPr/>
          <p:nvPr/>
        </p:nvSpPr>
        <p:spPr>
          <a:xfrm>
            <a:off x="386944" y="1783513"/>
            <a:ext cx="8317439" cy="3919022"/>
          </a:xfrm>
          <a:prstGeom prst="rect">
            <a:avLst/>
          </a:prstGeom>
        </p:spPr>
        <p:txBody>
          <a:bodyPr wrap="square">
            <a:spAutoFit/>
          </a:bodyPr>
          <a:lstStyle/>
          <a:p>
            <a:pPr>
              <a:lnSpc>
                <a:spcPct val="115000"/>
              </a:lnSpc>
              <a:spcAft>
                <a:spcPts val="1000"/>
              </a:spcAft>
            </a:pPr>
            <a:r>
              <a:rPr lang="en-US" b="1" dirty="0" smtClean="0">
                <a:latin typeface="Cambria" panose="02040503050406030204" pitchFamily="18" charset="0"/>
                <a:ea typeface="MS Mincho"/>
                <a:cs typeface="Times New Roman" panose="02020603050405020304" pitchFamily="18" charset="0"/>
              </a:rPr>
              <a:t>Objective</a:t>
            </a:r>
            <a:r>
              <a:rPr lang="en-US" b="1" dirty="0">
                <a:latin typeface="Cambria" panose="02040503050406030204" pitchFamily="18" charset="0"/>
                <a:ea typeface="MS Mincho"/>
                <a:cs typeface="Times New Roman" panose="02020603050405020304" pitchFamily="18" charset="0"/>
              </a:rPr>
              <a:t>: </a:t>
            </a:r>
            <a:endParaRPr lang="en-US" b="1" dirty="0" smtClean="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dirty="0" smtClean="0">
                <a:latin typeface="Cambria" panose="02040503050406030204" pitchFamily="18" charset="0"/>
                <a:ea typeface="MS Mincho"/>
                <a:cs typeface="Times New Roman" panose="02020603050405020304" pitchFamily="18" charset="0"/>
              </a:rPr>
              <a:t>Support children youth </a:t>
            </a:r>
            <a:r>
              <a:rPr lang="en-US" dirty="0">
                <a:latin typeface="Cambria" panose="02040503050406030204" pitchFamily="18" charset="0"/>
                <a:ea typeface="MS Mincho"/>
                <a:cs typeface="Times New Roman" panose="02020603050405020304" pitchFamily="18" charset="0"/>
              </a:rPr>
              <a:t>to succeed academically and </a:t>
            </a:r>
            <a:r>
              <a:rPr lang="en-US" dirty="0" smtClean="0">
                <a:latin typeface="Cambria" panose="02040503050406030204" pitchFamily="18" charset="0"/>
                <a:ea typeface="MS Mincho"/>
                <a:cs typeface="Times New Roman" panose="02020603050405020304" pitchFamily="18" charset="0"/>
              </a:rPr>
              <a:t> develop problem-solving skills. In children youth </a:t>
            </a:r>
            <a:endParaRPr lang="en-SG" dirty="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b="1" dirty="0">
                <a:latin typeface="Cambria" panose="02040503050406030204" pitchFamily="18" charset="0"/>
                <a:ea typeface="MS Mincho"/>
                <a:cs typeface="Times New Roman" panose="02020603050405020304" pitchFamily="18" charset="0"/>
              </a:rPr>
              <a:t>Strategies:</a:t>
            </a:r>
            <a:endParaRPr lang="en-SG" b="1"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dirty="0" smtClean="0">
                <a:latin typeface="Cambria" panose="02040503050406030204" pitchFamily="18" charset="0"/>
                <a:ea typeface="MS Mincho"/>
                <a:cs typeface="Times New Roman" panose="02020603050405020304" pitchFamily="18" charset="0"/>
              </a:rPr>
              <a:t> • Academic / Digital literacy Programs and literacy support </a:t>
            </a:r>
            <a:endParaRPr lang="en-SG"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dirty="0" smtClean="0">
                <a:latin typeface="Cambria" panose="02040503050406030204" pitchFamily="18" charset="0"/>
                <a:ea typeface="MS Mincho"/>
                <a:cs typeface="Times New Roman" panose="02020603050405020304" pitchFamily="18" charset="0"/>
              </a:rPr>
              <a:t> • </a:t>
            </a:r>
            <a:r>
              <a:rPr lang="en-US" dirty="0">
                <a:latin typeface="Cambria" panose="02040503050406030204" pitchFamily="18" charset="0"/>
                <a:ea typeface="MS Mincho"/>
                <a:cs typeface="Times New Roman" panose="02020603050405020304" pitchFamily="18" charset="0"/>
              </a:rPr>
              <a:t>Vocational/life skills workshops </a:t>
            </a:r>
            <a:r>
              <a:rPr lang="en-US" dirty="0" smtClean="0">
                <a:latin typeface="Cambria" panose="02040503050406030204" pitchFamily="18" charset="0"/>
                <a:ea typeface="MS Mincho"/>
                <a:cs typeface="Times New Roman" panose="02020603050405020304" pitchFamily="18" charset="0"/>
              </a:rPr>
              <a:t>(Computer</a:t>
            </a:r>
            <a:r>
              <a:rPr lang="en-US" dirty="0">
                <a:latin typeface="Cambria" panose="02040503050406030204" pitchFamily="18" charset="0"/>
                <a:ea typeface="MS Mincho"/>
                <a:cs typeface="Times New Roman" panose="02020603050405020304" pitchFamily="18" charset="0"/>
              </a:rPr>
              <a:t>, </a:t>
            </a:r>
            <a:r>
              <a:rPr lang="en-US" dirty="0" smtClean="0">
                <a:latin typeface="Cambria" panose="02040503050406030204" pitchFamily="18" charset="0"/>
                <a:ea typeface="MS Mincho"/>
                <a:cs typeface="Times New Roman" panose="02020603050405020304" pitchFamily="18" charset="0"/>
              </a:rPr>
              <a:t>Tailoring, Service Sector)</a:t>
            </a:r>
            <a:endParaRPr lang="en-SG"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dirty="0" smtClean="0">
                <a:latin typeface="Cambria" panose="02040503050406030204" pitchFamily="18" charset="0"/>
                <a:ea typeface="MS Mincho"/>
                <a:cs typeface="Times New Roman" panose="02020603050405020304" pitchFamily="18" charset="0"/>
              </a:rPr>
              <a:t> • Program in </a:t>
            </a:r>
            <a:r>
              <a:rPr lang="en-SG" dirty="0" smtClean="0"/>
              <a:t>Intellectual Curiosity - Critical </a:t>
            </a:r>
            <a:r>
              <a:rPr lang="en-SG" dirty="0"/>
              <a:t>thinking, Exploration </a:t>
            </a:r>
            <a:endParaRPr lang="en-SG" dirty="0" smtClean="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b="1" dirty="0" smtClean="0">
                <a:latin typeface="Cambria" panose="02040503050406030204" pitchFamily="18" charset="0"/>
                <a:ea typeface="MS Mincho"/>
                <a:cs typeface="Times New Roman" panose="02020603050405020304" pitchFamily="18" charset="0"/>
              </a:rPr>
              <a:t>Indicators </a:t>
            </a:r>
            <a:r>
              <a:rPr lang="en-US" b="1" dirty="0">
                <a:latin typeface="Cambria" panose="02040503050406030204" pitchFamily="18" charset="0"/>
                <a:ea typeface="MS Mincho"/>
                <a:cs typeface="Times New Roman" panose="02020603050405020304" pitchFamily="18" charset="0"/>
              </a:rPr>
              <a:t>of </a:t>
            </a:r>
            <a:r>
              <a:rPr lang="en-US" b="1" dirty="0" smtClean="0">
                <a:latin typeface="Cambria" panose="02040503050406030204" pitchFamily="18" charset="0"/>
                <a:ea typeface="MS Mincho"/>
                <a:cs typeface="Times New Roman" panose="02020603050405020304" pitchFamily="18" charset="0"/>
              </a:rPr>
              <a:t>Success (AIM):</a:t>
            </a:r>
            <a:endParaRPr lang="en-SG" b="1"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dirty="0">
                <a:latin typeface="Cambria" panose="02040503050406030204" pitchFamily="18" charset="0"/>
                <a:ea typeface="MS Mincho"/>
                <a:cs typeface="Times New Roman" panose="02020603050405020304" pitchFamily="18" charset="0"/>
              </a:rPr>
              <a:t>• </a:t>
            </a:r>
            <a:r>
              <a:rPr lang="en-US" dirty="0" smtClean="0">
                <a:latin typeface="Cambria" panose="02040503050406030204" pitchFamily="18" charset="0"/>
                <a:ea typeface="MS Mincho"/>
                <a:cs typeface="Times New Roman" panose="02020603050405020304" pitchFamily="18" charset="0"/>
              </a:rPr>
              <a:t>Ensure 80</a:t>
            </a:r>
            <a:r>
              <a:rPr lang="en-US" dirty="0">
                <a:latin typeface="Cambria" panose="02040503050406030204" pitchFamily="18" charset="0"/>
                <a:ea typeface="MS Mincho"/>
                <a:cs typeface="Times New Roman" panose="02020603050405020304" pitchFamily="18" charset="0"/>
              </a:rPr>
              <a:t>% of students show improvement in school performance.</a:t>
            </a:r>
            <a:endParaRPr lang="en-SG"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dirty="0">
                <a:latin typeface="Cambria" panose="02040503050406030204" pitchFamily="18" charset="0"/>
                <a:ea typeface="MS Mincho"/>
                <a:cs typeface="Times New Roman" panose="02020603050405020304" pitchFamily="18" charset="0"/>
              </a:rPr>
              <a:t>• </a:t>
            </a:r>
            <a:r>
              <a:rPr lang="en-US" dirty="0" smtClean="0">
                <a:latin typeface="Cambria" panose="02040503050406030204" pitchFamily="18" charset="0"/>
                <a:ea typeface="MS Mincho"/>
                <a:cs typeface="Times New Roman" panose="02020603050405020304" pitchFamily="18" charset="0"/>
              </a:rPr>
              <a:t>Ensure 100 </a:t>
            </a:r>
            <a:r>
              <a:rPr lang="en-US" dirty="0">
                <a:latin typeface="Cambria" panose="02040503050406030204" pitchFamily="18" charset="0"/>
                <a:ea typeface="MS Mincho"/>
                <a:cs typeface="Times New Roman" panose="02020603050405020304" pitchFamily="18" charset="0"/>
              </a:rPr>
              <a:t>youth equipped with at least 1 vocational skill by Year 3.</a:t>
            </a:r>
            <a:endParaRPr lang="en-SG" dirty="0">
              <a:effectLst/>
              <a:latin typeface="Cambria" panose="02040503050406030204" pitchFamily="18" charset="0"/>
              <a:ea typeface="MS Mincho"/>
              <a:cs typeface="Times New Roman" panose="02020603050405020304" pitchFamily="18" charset="0"/>
            </a:endParaRPr>
          </a:p>
        </p:txBody>
      </p:sp>
      <p:sp>
        <p:nvSpPr>
          <p:cNvPr id="7" name="Rectangle 6"/>
          <p:cNvSpPr/>
          <p:nvPr/>
        </p:nvSpPr>
        <p:spPr>
          <a:xfrm>
            <a:off x="386944" y="1102727"/>
            <a:ext cx="6652655" cy="658642"/>
          </a:xfrm>
          <a:prstGeom prst="rect">
            <a:avLst/>
          </a:prstGeom>
        </p:spPr>
        <p:txBody>
          <a:bodyPr wrap="none">
            <a:spAutoFit/>
          </a:bodyPr>
          <a:lstStyle/>
          <a:p>
            <a:pPr>
              <a:lnSpc>
                <a:spcPct val="115000"/>
              </a:lnSpc>
              <a:spcBef>
                <a:spcPts val="1000"/>
              </a:spcBef>
              <a:spcAft>
                <a:spcPts val="0"/>
              </a:spcAft>
            </a:pPr>
            <a:r>
              <a:rPr lang="en-US" sz="32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Education &amp; Intellectual Development</a:t>
            </a:r>
            <a:endParaRPr lang="en-SG" sz="32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2" name="TextBox 1"/>
          <p:cNvSpPr txBox="1"/>
          <p:nvPr/>
        </p:nvSpPr>
        <p:spPr>
          <a:xfrm>
            <a:off x="3497809" y="395162"/>
            <a:ext cx="2342821" cy="523220"/>
          </a:xfrm>
          <a:prstGeom prst="rect">
            <a:avLst/>
          </a:prstGeom>
          <a:noFill/>
        </p:spPr>
        <p:txBody>
          <a:bodyPr wrap="square" rtlCol="0">
            <a:spAutoFit/>
          </a:bodyPr>
          <a:lstStyle/>
          <a:p>
            <a:r>
              <a:rPr lang="en-SG" sz="2800" dirty="0" smtClean="0">
                <a:solidFill>
                  <a:srgbClr val="C00000"/>
                </a:solidFill>
              </a:rPr>
              <a:t>SEEDING </a:t>
            </a:r>
            <a:endParaRPr lang="en-SG" sz="2800" dirty="0">
              <a:solidFill>
                <a:srgbClr val="C00000"/>
              </a:solidFill>
            </a:endParaRPr>
          </a:p>
        </p:txBody>
      </p:sp>
    </p:spTree>
    <p:extLst>
      <p:ext uri="{BB962C8B-B14F-4D97-AF65-F5344CB8AC3E}">
        <p14:creationId xmlns:p14="http://schemas.microsoft.com/office/powerpoint/2010/main" val="2707817257"/>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2999" y="113383"/>
            <a:ext cx="1549103" cy="10771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62826" y="1715382"/>
            <a:ext cx="8182236" cy="4471993"/>
          </a:xfrm>
          <a:prstGeom prst="rect">
            <a:avLst/>
          </a:prstGeom>
        </p:spPr>
        <p:txBody>
          <a:bodyPr wrap="square">
            <a:spAutoFit/>
          </a:bodyPr>
          <a:lstStyle/>
          <a:p>
            <a:pPr>
              <a:lnSpc>
                <a:spcPct val="115000"/>
              </a:lnSpc>
              <a:spcAft>
                <a:spcPts val="1000"/>
              </a:spcAft>
            </a:pPr>
            <a:r>
              <a:rPr lang="en-US" sz="2400" dirty="0" smtClean="0">
                <a:latin typeface="Cambria" panose="02040503050406030204" pitchFamily="18" charset="0"/>
                <a:ea typeface="MS Mincho"/>
                <a:cs typeface="Times New Roman" panose="02020603050405020304" pitchFamily="18" charset="0"/>
              </a:rPr>
              <a:t>Objective</a:t>
            </a:r>
            <a:r>
              <a:rPr lang="en-US" sz="2400" dirty="0">
                <a:latin typeface="Cambria" panose="02040503050406030204" pitchFamily="18" charset="0"/>
                <a:ea typeface="MS Mincho"/>
                <a:cs typeface="Times New Roman" panose="02020603050405020304" pitchFamily="18" charset="0"/>
              </a:rPr>
              <a:t>: </a:t>
            </a:r>
            <a:endParaRPr lang="en-US" sz="2400" dirty="0" smtClean="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2000" dirty="0" smtClean="0">
                <a:latin typeface="Cambria" panose="02040503050406030204" pitchFamily="18" charset="0"/>
                <a:ea typeface="MS Mincho"/>
                <a:cs typeface="Times New Roman" panose="02020603050405020304" pitchFamily="18" charset="0"/>
              </a:rPr>
              <a:t>Develop </a:t>
            </a:r>
            <a:r>
              <a:rPr lang="en-US" sz="2000" dirty="0">
                <a:latin typeface="Cambria" panose="02040503050406030204" pitchFamily="18" charset="0"/>
                <a:ea typeface="MS Mincho"/>
                <a:cs typeface="Times New Roman" panose="02020603050405020304" pitchFamily="18" charset="0"/>
              </a:rPr>
              <a:t>young leaders who serve in church and transform society.</a:t>
            </a:r>
            <a:endParaRPr lang="en-SG" sz="2000" dirty="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2000" dirty="0">
                <a:latin typeface="Cambria" panose="02040503050406030204" pitchFamily="18" charset="0"/>
                <a:ea typeface="MS Mincho"/>
                <a:cs typeface="Times New Roman" panose="02020603050405020304" pitchFamily="18" charset="0"/>
              </a:rPr>
              <a:t>Strategies:</a:t>
            </a:r>
            <a:endParaRPr lang="en-SG" sz="2000"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sz="2000" dirty="0">
                <a:latin typeface="Cambria" panose="02040503050406030204" pitchFamily="18" charset="0"/>
                <a:ea typeface="MS Mincho"/>
                <a:cs typeface="Times New Roman" panose="02020603050405020304" pitchFamily="18" charset="0"/>
              </a:rPr>
              <a:t>• Leadership training workshops.</a:t>
            </a:r>
            <a:endParaRPr lang="en-SG" sz="2000"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sz="2000" dirty="0">
                <a:latin typeface="Cambria" panose="02040503050406030204" pitchFamily="18" charset="0"/>
                <a:ea typeface="MS Mincho"/>
                <a:cs typeface="Times New Roman" panose="02020603050405020304" pitchFamily="18" charset="0"/>
              </a:rPr>
              <a:t>• Involvement in outreach and service projects.</a:t>
            </a:r>
            <a:endParaRPr lang="en-SG" sz="2000"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sz="2000" dirty="0">
                <a:latin typeface="Cambria" panose="02040503050406030204" pitchFamily="18" charset="0"/>
                <a:ea typeface="MS Mincho"/>
                <a:cs typeface="Times New Roman" panose="02020603050405020304" pitchFamily="18" charset="0"/>
              </a:rPr>
              <a:t>• Encourage peer-to-peer mentoring.</a:t>
            </a:r>
            <a:endParaRPr lang="en-SG" sz="2000" dirty="0">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2000" dirty="0">
                <a:latin typeface="Cambria" panose="02040503050406030204" pitchFamily="18" charset="0"/>
                <a:ea typeface="MS Mincho"/>
                <a:cs typeface="Times New Roman" panose="02020603050405020304" pitchFamily="18" charset="0"/>
              </a:rPr>
              <a:t>Indicators of </a:t>
            </a:r>
            <a:r>
              <a:rPr lang="en-US" sz="2000" dirty="0" smtClean="0">
                <a:latin typeface="Cambria" panose="02040503050406030204" pitchFamily="18" charset="0"/>
                <a:ea typeface="MS Mincho"/>
                <a:cs typeface="Times New Roman" panose="02020603050405020304" pitchFamily="18" charset="0"/>
              </a:rPr>
              <a:t>Success (Aim):</a:t>
            </a:r>
            <a:endParaRPr lang="en-SG" sz="2000"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sz="2000" dirty="0">
                <a:latin typeface="Cambria" panose="02040503050406030204" pitchFamily="18" charset="0"/>
                <a:ea typeface="MS Mincho"/>
                <a:cs typeface="Times New Roman" panose="02020603050405020304" pitchFamily="18" charset="0"/>
              </a:rPr>
              <a:t>• </a:t>
            </a:r>
            <a:r>
              <a:rPr lang="en-US" sz="2000" dirty="0" smtClean="0">
                <a:latin typeface="Cambria" panose="02040503050406030204" pitchFamily="18" charset="0"/>
                <a:ea typeface="MS Mincho"/>
                <a:cs typeface="Times New Roman" panose="02020603050405020304" pitchFamily="18" charset="0"/>
              </a:rPr>
              <a:t>Projection  </a:t>
            </a:r>
            <a:r>
              <a:rPr lang="en-US" sz="2000" u="sng" dirty="0" smtClean="0">
                <a:solidFill>
                  <a:srgbClr val="FF0000"/>
                </a:solidFill>
                <a:latin typeface="Cambria" panose="02040503050406030204" pitchFamily="18" charset="0"/>
                <a:ea typeface="MS Mincho"/>
                <a:cs typeface="Times New Roman" panose="02020603050405020304" pitchFamily="18" charset="0"/>
              </a:rPr>
              <a:t>15 trained  </a:t>
            </a:r>
            <a:r>
              <a:rPr lang="en-US" sz="2000" dirty="0" smtClean="0">
                <a:latin typeface="Cambria" panose="02040503050406030204" pitchFamily="18" charset="0"/>
                <a:ea typeface="MS Mincho"/>
                <a:cs typeface="Times New Roman" panose="02020603050405020304" pitchFamily="18" charset="0"/>
              </a:rPr>
              <a:t>youth </a:t>
            </a:r>
            <a:r>
              <a:rPr lang="en-US" sz="2000" dirty="0">
                <a:latin typeface="Cambria" panose="02040503050406030204" pitchFamily="18" charset="0"/>
                <a:ea typeface="MS Mincho"/>
                <a:cs typeface="Times New Roman" panose="02020603050405020304" pitchFamily="18" charset="0"/>
              </a:rPr>
              <a:t>leaders by Year 3.</a:t>
            </a:r>
            <a:endParaRPr lang="en-SG" sz="2000"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sz="2000" dirty="0">
                <a:latin typeface="Cambria" panose="02040503050406030204" pitchFamily="18" charset="0"/>
                <a:ea typeface="MS Mincho"/>
                <a:cs typeface="Times New Roman" panose="02020603050405020304" pitchFamily="18" charset="0"/>
              </a:rPr>
              <a:t>• Youth-led community initiatives active in at least 3 </a:t>
            </a:r>
            <a:r>
              <a:rPr lang="en-US" sz="2000" dirty="0" smtClean="0">
                <a:latin typeface="Cambria" panose="02040503050406030204" pitchFamily="18" charset="0"/>
                <a:ea typeface="MS Mincho"/>
                <a:cs typeface="Times New Roman" panose="02020603050405020304" pitchFamily="18" charset="0"/>
              </a:rPr>
              <a:t>areas</a:t>
            </a:r>
          </a:p>
          <a:p>
            <a:pPr lvl="0">
              <a:lnSpc>
                <a:spcPct val="115000"/>
              </a:lnSpc>
              <a:spcAft>
                <a:spcPts val="1000"/>
              </a:spcAft>
              <a:tabLst>
                <a:tab pos="228600" algn="l"/>
              </a:tabLst>
            </a:pPr>
            <a:r>
              <a:rPr lang="en-US" sz="2000" dirty="0" smtClean="0">
                <a:latin typeface="Cambria" panose="02040503050406030204" pitchFamily="18" charset="0"/>
                <a:ea typeface="MS Mincho"/>
                <a:cs typeface="Times New Roman" panose="02020603050405020304" pitchFamily="18" charset="0"/>
              </a:rPr>
              <a:t> (Bible Education</a:t>
            </a:r>
            <a:r>
              <a:rPr lang="en-US" sz="2000" dirty="0">
                <a:latin typeface="Cambria" panose="02040503050406030204" pitchFamily="18" charset="0"/>
                <a:ea typeface="MS Mincho"/>
                <a:cs typeface="Times New Roman" panose="02020603050405020304" pitchFamily="18" charset="0"/>
              </a:rPr>
              <a:t>, </a:t>
            </a:r>
            <a:r>
              <a:rPr lang="en-US" sz="2000" dirty="0" smtClean="0">
                <a:latin typeface="Cambria" panose="02040503050406030204" pitchFamily="18" charset="0"/>
                <a:ea typeface="MS Mincho"/>
                <a:cs typeface="Times New Roman" panose="02020603050405020304" pitchFamily="18" charset="0"/>
              </a:rPr>
              <a:t>Promoting Counselling &amp; Wellness, Gospel outreach</a:t>
            </a:r>
            <a:r>
              <a:rPr lang="en-US" sz="2000" dirty="0">
                <a:latin typeface="Cambria" panose="02040503050406030204" pitchFamily="18" charset="0"/>
                <a:ea typeface="MS Mincho"/>
                <a:cs typeface="Times New Roman" panose="02020603050405020304" pitchFamily="18" charset="0"/>
              </a:rPr>
              <a:t>).</a:t>
            </a:r>
            <a:endParaRPr lang="en-SG" sz="2000" dirty="0">
              <a:effectLst/>
              <a:latin typeface="Cambria" panose="02040503050406030204" pitchFamily="18" charset="0"/>
              <a:ea typeface="MS Mincho"/>
              <a:cs typeface="Times New Roman" panose="02020603050405020304" pitchFamily="18" charset="0"/>
            </a:endParaRPr>
          </a:p>
        </p:txBody>
      </p:sp>
      <p:sp>
        <p:nvSpPr>
          <p:cNvPr id="7" name="Rectangle 6"/>
          <p:cNvSpPr/>
          <p:nvPr/>
        </p:nvSpPr>
        <p:spPr>
          <a:xfrm>
            <a:off x="7650122" y="942555"/>
            <a:ext cx="1354858" cy="307777"/>
          </a:xfrm>
          <a:prstGeom prst="rect">
            <a:avLst/>
          </a:prstGeom>
        </p:spPr>
        <p:txBody>
          <a:bodyPr wrap="square">
            <a:spAutoFit/>
          </a:bodyPr>
          <a:lstStyle/>
          <a:p>
            <a:r>
              <a:rPr lang="en-SG" sz="1400" dirty="0"/>
              <a:t>Living the vision</a:t>
            </a:r>
          </a:p>
        </p:txBody>
      </p:sp>
      <p:sp>
        <p:nvSpPr>
          <p:cNvPr id="2" name="Rectangle 1"/>
          <p:cNvSpPr/>
          <p:nvPr/>
        </p:nvSpPr>
        <p:spPr>
          <a:xfrm>
            <a:off x="662826" y="942555"/>
            <a:ext cx="6472413" cy="729430"/>
          </a:xfrm>
          <a:prstGeom prst="rect">
            <a:avLst/>
          </a:prstGeom>
        </p:spPr>
        <p:txBody>
          <a:bodyPr wrap="none">
            <a:spAutoFit/>
          </a:bodyPr>
          <a:lstStyle/>
          <a:p>
            <a:pPr>
              <a:lnSpc>
                <a:spcPct val="115000"/>
              </a:lnSpc>
              <a:spcBef>
                <a:spcPts val="1000"/>
              </a:spcBef>
              <a:spcAft>
                <a:spcPts val="0"/>
              </a:spcAft>
            </a:pP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Leadership &amp; Community Impact</a:t>
            </a:r>
            <a:endParaRPr lang="en-SG"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3" name="TextBox 2"/>
          <p:cNvSpPr txBox="1"/>
          <p:nvPr/>
        </p:nvSpPr>
        <p:spPr>
          <a:xfrm>
            <a:off x="2813538" y="564418"/>
            <a:ext cx="2131224" cy="461665"/>
          </a:xfrm>
          <a:prstGeom prst="rect">
            <a:avLst/>
          </a:prstGeom>
          <a:noFill/>
        </p:spPr>
        <p:txBody>
          <a:bodyPr wrap="none" rtlCol="0">
            <a:spAutoFit/>
          </a:bodyPr>
          <a:lstStyle/>
          <a:p>
            <a:r>
              <a:rPr lang="en-SG" sz="2400" dirty="0" smtClean="0">
                <a:solidFill>
                  <a:srgbClr val="C00000"/>
                </a:solidFill>
              </a:rPr>
              <a:t>TRANSFORMED</a:t>
            </a:r>
            <a:endParaRPr lang="en-SG" sz="2400" dirty="0">
              <a:solidFill>
                <a:srgbClr val="C00000"/>
              </a:solidFill>
            </a:endParaRPr>
          </a:p>
        </p:txBody>
      </p:sp>
      <p:sp>
        <p:nvSpPr>
          <p:cNvPr id="4" name="Rectangle 3"/>
          <p:cNvSpPr/>
          <p:nvPr/>
        </p:nvSpPr>
        <p:spPr>
          <a:xfrm>
            <a:off x="7588483" y="6274002"/>
            <a:ext cx="1003352" cy="523220"/>
          </a:xfrm>
          <a:prstGeom prst="rect">
            <a:avLst/>
          </a:prstGeom>
        </p:spPr>
        <p:txBody>
          <a:bodyPr wrap="none">
            <a:spAutoFit/>
          </a:bodyPr>
          <a:lstStyle/>
          <a:p>
            <a:r>
              <a:rPr lang="en-SG" sz="2800" dirty="0">
                <a:solidFill>
                  <a:srgbClr val="C00000"/>
                </a:solidFill>
              </a:rPr>
              <a:t>Equip</a:t>
            </a:r>
          </a:p>
        </p:txBody>
      </p:sp>
    </p:spTree>
    <p:extLst>
      <p:ext uri="{BB962C8B-B14F-4D97-AF65-F5344CB8AC3E}">
        <p14:creationId xmlns:p14="http://schemas.microsoft.com/office/powerpoint/2010/main" val="2866725281"/>
      </p:ext>
    </p:extLst>
  </p:cSld>
  <p:clrMapOvr>
    <a:masterClrMapping/>
  </p:clrMapOvr>
  <p:transition spd="slow">
    <p:cov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2211" y="47865"/>
            <a:ext cx="1704986" cy="123971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693990" y="996874"/>
            <a:ext cx="1354858" cy="307777"/>
          </a:xfrm>
          <a:prstGeom prst="rect">
            <a:avLst/>
          </a:prstGeom>
        </p:spPr>
        <p:txBody>
          <a:bodyPr wrap="none">
            <a:spAutoFit/>
          </a:bodyPr>
          <a:lstStyle/>
          <a:p>
            <a:r>
              <a:rPr lang="en-SG" sz="1400" dirty="0"/>
              <a:t>Living the vision</a:t>
            </a:r>
          </a:p>
        </p:txBody>
      </p:sp>
      <p:sp>
        <p:nvSpPr>
          <p:cNvPr id="8" name="Rectangle 7"/>
          <p:cNvSpPr/>
          <p:nvPr/>
        </p:nvSpPr>
        <p:spPr>
          <a:xfrm>
            <a:off x="459816" y="1459524"/>
            <a:ext cx="8194154" cy="5178854"/>
          </a:xfrm>
          <a:prstGeom prst="rect">
            <a:avLst/>
          </a:prstGeom>
        </p:spPr>
        <p:txBody>
          <a:bodyPr wrap="square">
            <a:spAutoFit/>
          </a:bodyPr>
          <a:lstStyle/>
          <a:p>
            <a:pPr>
              <a:lnSpc>
                <a:spcPct val="115000"/>
              </a:lnSpc>
              <a:spcBef>
                <a:spcPts val="2400"/>
              </a:spcBef>
              <a:spcAft>
                <a:spcPts val="0"/>
              </a:spcAft>
            </a:pPr>
            <a:r>
              <a:rPr lang="en-US" b="1" kern="0" dirty="0" smtClean="0">
                <a:solidFill>
                  <a:srgbClr val="365F91"/>
                </a:solidFill>
                <a:latin typeface="Calibri" panose="020F0502020204030204" pitchFamily="34" charset="0"/>
                <a:ea typeface="MS Gothic" panose="020B0609070205080204" pitchFamily="49" charset="-128"/>
                <a:cs typeface="Times New Roman" panose="02020603050405020304" pitchFamily="18" charset="0"/>
              </a:rPr>
              <a:t>SMART Goal - Projection Outline </a:t>
            </a:r>
            <a:endParaRPr lang="en-SG"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endParaRPr>
          </a:p>
          <a:p>
            <a:endParaRPr lang="en-SG"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a:p>
            <a:r>
              <a:rPr lang="en-US" dirty="0" smtClean="0"/>
              <a:t>Year 1 – </a:t>
            </a:r>
            <a:r>
              <a:rPr lang="en-US" b="1" dirty="0" smtClean="0">
                <a:solidFill>
                  <a:schemeClr val="tx1">
                    <a:lumMod val="95000"/>
                    <a:lumOff val="5000"/>
                  </a:schemeClr>
                </a:solidFill>
              </a:rPr>
              <a:t>Measurable</a:t>
            </a:r>
          </a:p>
          <a:p>
            <a:r>
              <a:rPr lang="en-US" dirty="0" smtClean="0"/>
              <a:t>Program </a:t>
            </a:r>
            <a:r>
              <a:rPr lang="en-US" dirty="0"/>
              <a:t>Goals and Roles</a:t>
            </a:r>
          </a:p>
          <a:p>
            <a:r>
              <a:rPr lang="en-US" dirty="0"/>
              <a:t>Launch Bible clubs, tutoring, and mentoring programs.</a:t>
            </a:r>
          </a:p>
          <a:p>
            <a:r>
              <a:rPr lang="en-US" dirty="0"/>
              <a:t>Trainee </a:t>
            </a:r>
            <a:r>
              <a:rPr lang="en-US" dirty="0" smtClean="0"/>
              <a:t>Leader OJT (On Job Training)</a:t>
            </a:r>
            <a:endParaRPr lang="en-US" dirty="0"/>
          </a:p>
          <a:p>
            <a:r>
              <a:rPr lang="en-US" dirty="0"/>
              <a:t>Pilot 1–2 community service projects with measurable outcomes</a:t>
            </a:r>
          </a:p>
          <a:p>
            <a:pPr lvl="0">
              <a:lnSpc>
                <a:spcPct val="115000"/>
              </a:lnSpc>
              <a:spcAft>
                <a:spcPts val="0"/>
              </a:spcAft>
              <a:tabLst>
                <a:tab pos="228600" algn="l"/>
              </a:tabLst>
            </a:pPr>
            <a:endParaRPr lang="en-SG" dirty="0">
              <a:latin typeface="Cambria" panose="02040503050406030204" pitchFamily="18" charset="0"/>
              <a:ea typeface="MS Mincho"/>
              <a:cs typeface="Times New Roman" panose="02020603050405020304" pitchFamily="18" charset="0"/>
            </a:endParaRPr>
          </a:p>
          <a:p>
            <a:r>
              <a:rPr lang="en-US" dirty="0" smtClean="0"/>
              <a:t>Year </a:t>
            </a:r>
            <a:r>
              <a:rPr lang="en-US" dirty="0"/>
              <a:t>2 </a:t>
            </a:r>
            <a:r>
              <a:rPr lang="en-US" dirty="0" smtClean="0"/>
              <a:t>- </a:t>
            </a:r>
            <a:r>
              <a:rPr lang="en-US" b="1" dirty="0" smtClean="0">
                <a:solidFill>
                  <a:schemeClr val="tx1">
                    <a:lumMod val="95000"/>
                    <a:lumOff val="5000"/>
                  </a:schemeClr>
                </a:solidFill>
              </a:rPr>
              <a:t>Achievable</a:t>
            </a:r>
            <a:endParaRPr lang="en-US" b="1" dirty="0">
              <a:solidFill>
                <a:schemeClr val="tx1">
                  <a:lumMod val="95000"/>
                  <a:lumOff val="5000"/>
                </a:schemeClr>
              </a:solidFill>
            </a:endParaRPr>
          </a:p>
          <a:p>
            <a:r>
              <a:rPr lang="en-US" dirty="0" smtClean="0"/>
              <a:t>Add vocational skills training. (</a:t>
            </a:r>
            <a:r>
              <a:rPr lang="en-US" dirty="0">
                <a:latin typeface="Cambria" panose="02040503050406030204" pitchFamily="18" charset="0"/>
                <a:ea typeface="MS Mincho"/>
                <a:cs typeface="Times New Roman" panose="02020603050405020304" pitchFamily="18" charset="0"/>
              </a:rPr>
              <a:t>Computer, Tailoring, Service </a:t>
            </a:r>
            <a:r>
              <a:rPr lang="en-US" dirty="0" smtClean="0">
                <a:latin typeface="Cambria" panose="02040503050406030204" pitchFamily="18" charset="0"/>
                <a:ea typeface="MS Mincho"/>
                <a:cs typeface="Times New Roman" panose="02020603050405020304" pitchFamily="18" charset="0"/>
              </a:rPr>
              <a:t>Sector)</a:t>
            </a:r>
            <a:endParaRPr lang="en-US" dirty="0" smtClean="0"/>
          </a:p>
          <a:p>
            <a:r>
              <a:rPr lang="en-US" dirty="0" smtClean="0"/>
              <a:t>Strengthen </a:t>
            </a:r>
            <a:r>
              <a:rPr lang="en-US" dirty="0"/>
              <a:t>parental involvement.</a:t>
            </a:r>
          </a:p>
          <a:p>
            <a:r>
              <a:rPr lang="en-US" dirty="0"/>
              <a:t>Organize </a:t>
            </a:r>
            <a:r>
              <a:rPr lang="en-US" dirty="0" smtClean="0"/>
              <a:t>youth children </a:t>
            </a:r>
            <a:r>
              <a:rPr lang="en-US" dirty="0"/>
              <a:t>camp and annual health day</a:t>
            </a:r>
            <a:r>
              <a:rPr lang="en-US" dirty="0" smtClean="0"/>
              <a:t>.</a:t>
            </a:r>
          </a:p>
          <a:p>
            <a:endParaRPr lang="en-US" dirty="0"/>
          </a:p>
          <a:p>
            <a:pPr>
              <a:lnSpc>
                <a:spcPct val="115000"/>
              </a:lnSpc>
              <a:spcBef>
                <a:spcPts val="1000"/>
              </a:spcBef>
              <a:spcAft>
                <a:spcPts val="0"/>
              </a:spcAft>
            </a:pPr>
            <a:r>
              <a:rPr lang="en-US" dirty="0" smtClean="0">
                <a:solidFill>
                  <a:schemeClr val="tx1">
                    <a:lumMod val="95000"/>
                    <a:lumOff val="5000"/>
                  </a:schemeClr>
                </a:solidFill>
                <a:latin typeface="Calibri" panose="020F0502020204030204" pitchFamily="34" charset="0"/>
                <a:ea typeface="MS Gothic" panose="020B0609070205080204" pitchFamily="49" charset="-128"/>
                <a:cs typeface="Times New Roman" panose="02020603050405020304" pitchFamily="18" charset="0"/>
              </a:rPr>
              <a:t>Year </a:t>
            </a:r>
            <a:r>
              <a:rPr lang="en-US" dirty="0">
                <a:solidFill>
                  <a:schemeClr val="tx1">
                    <a:lumMod val="95000"/>
                    <a:lumOff val="5000"/>
                  </a:schemeClr>
                </a:solidFill>
                <a:latin typeface="Calibri" panose="020F0502020204030204" pitchFamily="34" charset="0"/>
                <a:ea typeface="MS Gothic" panose="020B0609070205080204" pitchFamily="49" charset="-128"/>
                <a:cs typeface="Times New Roman" panose="02020603050405020304" pitchFamily="18" charset="0"/>
              </a:rPr>
              <a:t>3 </a:t>
            </a:r>
            <a:r>
              <a:rPr lang="en-US" b="1" dirty="0" smtClean="0">
                <a:solidFill>
                  <a:schemeClr val="tx1">
                    <a:lumMod val="95000"/>
                    <a:lumOff val="5000"/>
                  </a:schemeClr>
                </a:solidFill>
                <a:latin typeface="Calibri" panose="020F0502020204030204" pitchFamily="34" charset="0"/>
                <a:ea typeface="MS Gothic" panose="020B0609070205080204" pitchFamily="49" charset="-128"/>
                <a:cs typeface="Times New Roman" panose="02020603050405020304" pitchFamily="18" charset="0"/>
              </a:rPr>
              <a:t>Relevant (Project Goal)</a:t>
            </a:r>
            <a:endParaRPr lang="en-SG" b="1" dirty="0">
              <a:solidFill>
                <a:schemeClr val="tx1">
                  <a:lumMod val="95000"/>
                  <a:lumOff val="5000"/>
                </a:schemeClr>
              </a:solidFill>
              <a:latin typeface="Calibri" panose="020F0502020204030204" pitchFamily="34" charset="0"/>
              <a:ea typeface="MS Gothic" panose="020B0609070205080204" pitchFamily="49" charset="-128"/>
              <a:cs typeface="Times New Roman" panose="02020603050405020304" pitchFamily="18" charset="0"/>
            </a:endParaRPr>
          </a:p>
          <a:p>
            <a:pPr lvl="0">
              <a:lnSpc>
                <a:spcPct val="115000"/>
              </a:lnSpc>
              <a:spcAft>
                <a:spcPts val="0"/>
              </a:spcAft>
              <a:tabLst>
                <a:tab pos="228600" algn="l"/>
              </a:tabLst>
            </a:pPr>
            <a:r>
              <a:rPr lang="en-US" dirty="0" smtClean="0">
                <a:latin typeface="Cambria" panose="02040503050406030204" pitchFamily="18" charset="0"/>
                <a:ea typeface="MS Mincho"/>
                <a:cs typeface="Times New Roman" panose="02020603050405020304" pitchFamily="18" charset="0"/>
              </a:rPr>
              <a:t> </a:t>
            </a:r>
            <a:r>
              <a:rPr lang="en-US" dirty="0">
                <a:latin typeface="Cambria" panose="02040503050406030204" pitchFamily="18" charset="0"/>
                <a:ea typeface="MS Mincho"/>
                <a:cs typeface="Times New Roman" panose="02020603050405020304" pitchFamily="18" charset="0"/>
              </a:rPr>
              <a:t>Empower trained youth to lead programs.</a:t>
            </a:r>
            <a:endParaRPr lang="en-SG" dirty="0">
              <a:latin typeface="Cambria" panose="02040503050406030204" pitchFamily="18" charset="0"/>
              <a:ea typeface="MS Mincho"/>
              <a:cs typeface="Times New Roman" panose="02020603050405020304" pitchFamily="18" charset="0"/>
            </a:endParaRPr>
          </a:p>
          <a:p>
            <a:pPr lvl="0">
              <a:lnSpc>
                <a:spcPct val="115000"/>
              </a:lnSpc>
              <a:spcAft>
                <a:spcPts val="0"/>
              </a:spcAft>
              <a:tabLst>
                <a:tab pos="228600" algn="l"/>
              </a:tabLst>
            </a:pPr>
            <a:r>
              <a:rPr lang="en-US" dirty="0" smtClean="0">
                <a:latin typeface="Cambria" panose="02040503050406030204" pitchFamily="18" charset="0"/>
                <a:ea typeface="MS Mincho"/>
                <a:cs typeface="Times New Roman" panose="02020603050405020304" pitchFamily="18" charset="0"/>
              </a:rPr>
              <a:t> </a:t>
            </a:r>
            <a:r>
              <a:rPr lang="en-US" dirty="0">
                <a:latin typeface="Cambria" panose="02040503050406030204" pitchFamily="18" charset="0"/>
                <a:ea typeface="MS Mincho"/>
                <a:cs typeface="Times New Roman" panose="02020603050405020304" pitchFamily="18" charset="0"/>
              </a:rPr>
              <a:t>Develop partnerships with local schools, clinics, NGOs</a:t>
            </a:r>
            <a:r>
              <a:rPr lang="en-US" dirty="0" smtClean="0">
                <a:latin typeface="Cambria" panose="02040503050406030204" pitchFamily="18" charset="0"/>
                <a:ea typeface="MS Mincho"/>
                <a:cs typeface="Times New Roman" panose="02020603050405020304" pitchFamily="18" charset="0"/>
              </a:rPr>
              <a:t>.</a:t>
            </a:r>
            <a:r>
              <a:rPr lang="en-US" sz="1200" dirty="0" smtClean="0">
                <a:latin typeface="Cambria" panose="02040503050406030204" pitchFamily="18" charset="0"/>
                <a:ea typeface="MS Mincho"/>
                <a:cs typeface="Times New Roman" panose="02020603050405020304" pitchFamily="18" charset="0"/>
              </a:rPr>
              <a:t>(</a:t>
            </a:r>
            <a:r>
              <a:rPr lang="en-SG" sz="1200" dirty="0"/>
              <a:t>Non-Governmental </a:t>
            </a:r>
            <a:r>
              <a:rPr lang="en-SG" sz="1200" dirty="0" smtClean="0"/>
              <a:t>Organizations)</a:t>
            </a:r>
            <a:endParaRPr lang="en-SG" sz="1200" dirty="0">
              <a:latin typeface="Cambria" panose="02040503050406030204" pitchFamily="18" charset="0"/>
              <a:ea typeface="MS Mincho"/>
              <a:cs typeface="Times New Roman" panose="02020603050405020304" pitchFamily="18" charset="0"/>
            </a:endParaRPr>
          </a:p>
          <a:p>
            <a:pPr lvl="0">
              <a:lnSpc>
                <a:spcPct val="115000"/>
              </a:lnSpc>
              <a:spcAft>
                <a:spcPts val="1000"/>
              </a:spcAft>
              <a:tabLst>
                <a:tab pos="228600" algn="l"/>
              </a:tabLst>
            </a:pPr>
            <a:r>
              <a:rPr lang="en-US" dirty="0" smtClean="0">
                <a:latin typeface="Cambria" panose="02040503050406030204" pitchFamily="18" charset="0"/>
                <a:ea typeface="MS Mincho"/>
                <a:cs typeface="Times New Roman" panose="02020603050405020304" pitchFamily="18" charset="0"/>
              </a:rPr>
              <a:t> </a:t>
            </a:r>
            <a:r>
              <a:rPr lang="en-US" dirty="0">
                <a:latin typeface="Cambria" panose="02040503050406030204" pitchFamily="18" charset="0"/>
                <a:ea typeface="MS Mincho"/>
                <a:cs typeface="Times New Roman" panose="02020603050405020304" pitchFamily="18" charset="0"/>
              </a:rPr>
              <a:t>Evaluate impact and refine ministry strategy.</a:t>
            </a:r>
            <a:endParaRPr lang="en-SG" dirty="0">
              <a:effectLst/>
              <a:latin typeface="Cambria" panose="02040503050406030204" pitchFamily="18" charset="0"/>
              <a:ea typeface="MS Mincho"/>
              <a:cs typeface="Times New Roman" panose="02020603050405020304" pitchFamily="18" charset="0"/>
            </a:endParaRPr>
          </a:p>
        </p:txBody>
      </p:sp>
      <p:sp>
        <p:nvSpPr>
          <p:cNvPr id="2" name="Rectangle 1"/>
          <p:cNvSpPr/>
          <p:nvPr/>
        </p:nvSpPr>
        <p:spPr>
          <a:xfrm>
            <a:off x="459816" y="436805"/>
            <a:ext cx="6356839" cy="769441"/>
          </a:xfrm>
          <a:prstGeom prst="rect">
            <a:avLst/>
          </a:prstGeom>
        </p:spPr>
        <p:txBody>
          <a:bodyPr wrap="square">
            <a:spAutoFit/>
          </a:bodyPr>
          <a:lstStyle/>
          <a:p>
            <a:r>
              <a:rPr lang="en-US" sz="2000" dirty="0">
                <a:latin typeface="Bahnschrift SemiBold" panose="020B0502040204020203" pitchFamily="34" charset="0"/>
              </a:rPr>
              <a:t>From bold ideas to real impact, our vision </a:t>
            </a:r>
            <a:r>
              <a:rPr lang="en-US" sz="2400" u="sng" dirty="0">
                <a:solidFill>
                  <a:srgbClr val="C00000"/>
                </a:solidFill>
                <a:latin typeface="Bahnschrift SemiBold" panose="020B0502040204020203" pitchFamily="34" charset="0"/>
              </a:rPr>
              <a:t>timeline </a:t>
            </a:r>
            <a:r>
              <a:rPr lang="en-US" sz="2000" dirty="0">
                <a:latin typeface="Bahnschrift SemiBold" panose="020B0502040204020203" pitchFamily="34" charset="0"/>
              </a:rPr>
              <a:t>walks you through every step of the transformation</a:t>
            </a:r>
            <a:endParaRPr lang="en-SG" sz="2000" dirty="0">
              <a:latin typeface="Bahnschrift SemiBold" panose="020B0502040204020203" pitchFamily="34" charset="0"/>
            </a:endParaRPr>
          </a:p>
        </p:txBody>
      </p:sp>
    </p:spTree>
    <p:extLst>
      <p:ext uri="{BB962C8B-B14F-4D97-AF65-F5344CB8AC3E}">
        <p14:creationId xmlns:p14="http://schemas.microsoft.com/office/powerpoint/2010/main" val="1246997248"/>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3654" y="104896"/>
            <a:ext cx="1851061" cy="105507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605345" y="861994"/>
            <a:ext cx="1370878" cy="307777"/>
          </a:xfrm>
          <a:prstGeom prst="rect">
            <a:avLst/>
          </a:prstGeom>
        </p:spPr>
        <p:txBody>
          <a:bodyPr wrap="square">
            <a:spAutoFit/>
          </a:bodyPr>
          <a:lstStyle/>
          <a:p>
            <a:r>
              <a:rPr lang="en-SG" sz="1400" dirty="0"/>
              <a:t>Living the vision</a:t>
            </a:r>
          </a:p>
        </p:txBody>
      </p:sp>
      <p:graphicFrame>
        <p:nvGraphicFramePr>
          <p:cNvPr id="14" name="Chart 13"/>
          <p:cNvGraphicFramePr/>
          <p:nvPr>
            <p:extLst>
              <p:ext uri="{D42A27DB-BD31-4B8C-83A1-F6EECF244321}">
                <p14:modId xmlns:p14="http://schemas.microsoft.com/office/powerpoint/2010/main" val="697178077"/>
              </p:ext>
            </p:extLst>
          </p:nvPr>
        </p:nvGraphicFramePr>
        <p:xfrm>
          <a:off x="2636915" y="1842516"/>
          <a:ext cx="3452446" cy="19264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p:nvPr>
            <p:extLst>
              <p:ext uri="{D42A27DB-BD31-4B8C-83A1-F6EECF244321}">
                <p14:modId xmlns:p14="http://schemas.microsoft.com/office/powerpoint/2010/main" val="377917838"/>
              </p:ext>
            </p:extLst>
          </p:nvPr>
        </p:nvGraphicFramePr>
        <p:xfrm>
          <a:off x="1696915" y="3010032"/>
          <a:ext cx="5829299" cy="2851572"/>
        </p:xfrm>
        <a:graphic>
          <a:graphicData uri="http://schemas.openxmlformats.org/drawingml/2006/chart">
            <c:chart xmlns:c="http://schemas.openxmlformats.org/drawingml/2006/chart" xmlns:r="http://schemas.openxmlformats.org/officeDocument/2006/relationships" r:id="rId5"/>
          </a:graphicData>
        </a:graphic>
      </p:graphicFrame>
      <p:sp>
        <p:nvSpPr>
          <p:cNvPr id="3" name="Rectangle 2"/>
          <p:cNvSpPr/>
          <p:nvPr/>
        </p:nvSpPr>
        <p:spPr>
          <a:xfrm>
            <a:off x="2985548" y="3075345"/>
            <a:ext cx="2787045" cy="369332"/>
          </a:xfrm>
          <a:prstGeom prst="rect">
            <a:avLst/>
          </a:prstGeom>
        </p:spPr>
        <p:txBody>
          <a:bodyPr wrap="none">
            <a:spAutoFit/>
          </a:bodyPr>
          <a:lstStyle/>
          <a:p>
            <a:r>
              <a:rPr lang="en-SG" dirty="0" smtClean="0"/>
              <a:t>Target Soul-saving </a:t>
            </a:r>
            <a:r>
              <a:rPr lang="en-SG" dirty="0"/>
              <a:t>goal: </a:t>
            </a:r>
            <a:r>
              <a:rPr lang="en-SG" dirty="0"/>
              <a:t>1</a:t>
            </a:r>
            <a:r>
              <a:rPr lang="en-SG" dirty="0" smtClean="0"/>
              <a:t>50</a:t>
            </a:r>
            <a:endParaRPr lang="en-SG" dirty="0"/>
          </a:p>
        </p:txBody>
      </p:sp>
      <p:sp>
        <p:nvSpPr>
          <p:cNvPr id="5" name="Rectangle 4"/>
          <p:cNvSpPr/>
          <p:nvPr/>
        </p:nvSpPr>
        <p:spPr>
          <a:xfrm>
            <a:off x="3167895" y="659097"/>
            <a:ext cx="2227918" cy="584775"/>
          </a:xfrm>
          <a:prstGeom prst="rect">
            <a:avLst/>
          </a:prstGeom>
        </p:spPr>
        <p:txBody>
          <a:bodyPr wrap="none">
            <a:spAutoFit/>
          </a:bodyPr>
          <a:lstStyle/>
          <a:p>
            <a:pPr lvl="0"/>
            <a:r>
              <a:rPr lang="en-US" sz="3200" b="1" dirty="0">
                <a:solidFill>
                  <a:srgbClr val="1F497D">
                    <a:lumMod val="60000"/>
                    <a:lumOff val="40000"/>
                  </a:srgbClr>
                </a:solidFill>
              </a:rPr>
              <a:t>Vision Drive</a:t>
            </a:r>
          </a:p>
        </p:txBody>
      </p:sp>
      <p:sp>
        <p:nvSpPr>
          <p:cNvPr id="2" name="Rectangle 1"/>
          <p:cNvSpPr/>
          <p:nvPr/>
        </p:nvSpPr>
        <p:spPr>
          <a:xfrm>
            <a:off x="351941" y="1949723"/>
            <a:ext cx="8519246" cy="461665"/>
          </a:xfrm>
          <a:prstGeom prst="rect">
            <a:avLst/>
          </a:prstGeom>
        </p:spPr>
        <p:txBody>
          <a:bodyPr wrap="square">
            <a:spAutoFit/>
          </a:bodyPr>
          <a:lstStyle/>
          <a:p>
            <a:r>
              <a:rPr lang="en-US" sz="2400" dirty="0"/>
              <a:t>Our vision drive fuels every step we take toward transforming lives</a:t>
            </a:r>
            <a:endParaRPr lang="en-SG" sz="2400" dirty="0"/>
          </a:p>
        </p:txBody>
      </p:sp>
    </p:spTree>
    <p:extLst>
      <p:ext uri="{BB962C8B-B14F-4D97-AF65-F5344CB8AC3E}">
        <p14:creationId xmlns:p14="http://schemas.microsoft.com/office/powerpoint/2010/main" val="2238207747"/>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7973" y="90101"/>
            <a:ext cx="1623464" cy="111662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532276" y="961821"/>
            <a:ext cx="1354858" cy="307777"/>
          </a:xfrm>
          <a:prstGeom prst="rect">
            <a:avLst/>
          </a:prstGeom>
        </p:spPr>
        <p:txBody>
          <a:bodyPr wrap="none">
            <a:spAutoFit/>
          </a:bodyPr>
          <a:lstStyle/>
          <a:p>
            <a:r>
              <a:rPr lang="en-SG" sz="1400" dirty="0"/>
              <a:t>Living the vision</a:t>
            </a:r>
          </a:p>
        </p:txBody>
      </p:sp>
      <p:sp>
        <p:nvSpPr>
          <p:cNvPr id="16" name="Rectangle 15"/>
          <p:cNvSpPr/>
          <p:nvPr/>
        </p:nvSpPr>
        <p:spPr>
          <a:xfrm>
            <a:off x="2622398" y="109990"/>
            <a:ext cx="2998450" cy="461665"/>
          </a:xfrm>
          <a:prstGeom prst="rect">
            <a:avLst/>
          </a:prstGeom>
        </p:spPr>
        <p:txBody>
          <a:bodyPr wrap="none">
            <a:spAutoFit/>
          </a:bodyPr>
          <a:lstStyle/>
          <a:p>
            <a:r>
              <a:rPr lang="en-SG" sz="2400" b="1" u="sng" dirty="0"/>
              <a:t>Our vision-driven goal</a:t>
            </a:r>
          </a:p>
        </p:txBody>
      </p:sp>
      <p:sp>
        <p:nvSpPr>
          <p:cNvPr id="4" name="Rectangle 3"/>
          <p:cNvSpPr/>
          <p:nvPr/>
        </p:nvSpPr>
        <p:spPr>
          <a:xfrm>
            <a:off x="434275" y="1929558"/>
            <a:ext cx="8587162" cy="4524315"/>
          </a:xfrm>
          <a:prstGeom prst="rect">
            <a:avLst/>
          </a:prstGeom>
        </p:spPr>
        <p:txBody>
          <a:bodyPr wrap="square">
            <a:spAutoFit/>
          </a:bodyPr>
          <a:lstStyle/>
          <a:p>
            <a:pPr algn="ctr"/>
            <a:r>
              <a:rPr lang="en-US" u="sng" dirty="0"/>
              <a:t>Program Support </a:t>
            </a:r>
            <a:r>
              <a:rPr lang="en-US" u="sng" dirty="0" smtClean="0"/>
              <a:t>Requirements</a:t>
            </a:r>
          </a:p>
          <a:p>
            <a:pPr algn="ctr"/>
            <a:endParaRPr lang="en-US" b="1" u="sng" dirty="0"/>
          </a:p>
          <a:p>
            <a:pPr marL="285750" indent="-285750">
              <a:buFont typeface="Wingdings" panose="05000000000000000000" pitchFamily="2" charset="2"/>
              <a:buChar char="§"/>
            </a:pPr>
            <a:r>
              <a:rPr lang="en-US" b="1" u="sng" dirty="0" smtClean="0"/>
              <a:t>Training </a:t>
            </a:r>
            <a:r>
              <a:rPr lang="en-US" b="1" u="sng" dirty="0"/>
              <a:t>and Capacity </a:t>
            </a:r>
            <a:r>
              <a:rPr lang="en-US" b="1" u="sng" dirty="0" smtClean="0"/>
              <a:t>Budget</a:t>
            </a:r>
            <a:endParaRPr lang="en-US" b="1" u="sng" dirty="0"/>
          </a:p>
          <a:p>
            <a:r>
              <a:rPr lang="en-US" dirty="0" smtClean="0"/>
              <a:t>Equip </a:t>
            </a:r>
            <a:r>
              <a:rPr lang="en-US" dirty="0"/>
              <a:t>spiritual trainers and mentors with essential skills to effectively </a:t>
            </a:r>
            <a:r>
              <a:rPr lang="en-US" dirty="0" smtClean="0"/>
              <a:t>guide new leads</a:t>
            </a:r>
          </a:p>
          <a:p>
            <a:endParaRPr lang="en-US" dirty="0"/>
          </a:p>
          <a:p>
            <a:pPr marL="285750" indent="-285750">
              <a:buFont typeface="Wingdings" panose="05000000000000000000" pitchFamily="2" charset="2"/>
              <a:buChar char="§"/>
            </a:pPr>
            <a:r>
              <a:rPr lang="en-US" b="1" u="sng" dirty="0" smtClean="0"/>
              <a:t>Curriculum </a:t>
            </a:r>
            <a:r>
              <a:rPr lang="en-US" b="1" u="sng" dirty="0"/>
              <a:t>Development</a:t>
            </a:r>
          </a:p>
          <a:p>
            <a:r>
              <a:rPr lang="en-US" dirty="0"/>
              <a:t>Provide comprehensive curriculum materials, including Bible lessons, life skills, and health education</a:t>
            </a:r>
            <a:r>
              <a:rPr lang="en-US" dirty="0" smtClean="0"/>
              <a:t>.</a:t>
            </a:r>
          </a:p>
          <a:p>
            <a:endParaRPr lang="en-US" dirty="0"/>
          </a:p>
          <a:p>
            <a:pPr marL="285750" indent="-285750">
              <a:buFont typeface="Wingdings" panose="05000000000000000000" pitchFamily="2" charset="2"/>
              <a:buChar char="§"/>
            </a:pPr>
            <a:r>
              <a:rPr lang="en-US" dirty="0" smtClean="0"/>
              <a:t> </a:t>
            </a:r>
            <a:r>
              <a:rPr lang="en-US" b="1" u="sng" dirty="0"/>
              <a:t>Safe and Accessible Meeting Spaces</a:t>
            </a:r>
          </a:p>
          <a:p>
            <a:r>
              <a:rPr lang="en-US" dirty="0"/>
              <a:t>Secure safe and accessible venues such as church halls, school classrooms, and community centers</a:t>
            </a:r>
            <a:r>
              <a:rPr lang="en-US" dirty="0" smtClean="0"/>
              <a:t>.</a:t>
            </a:r>
          </a:p>
          <a:p>
            <a:pPr>
              <a:buFont typeface="Arial" panose="020B0604020202020204" pitchFamily="34" charset="0"/>
              <a:buChar char="•"/>
            </a:pPr>
            <a:endParaRPr lang="en-US" dirty="0"/>
          </a:p>
          <a:p>
            <a:pPr marL="285750" indent="-285750">
              <a:buFont typeface="Wingdings" panose="05000000000000000000" pitchFamily="2" charset="2"/>
              <a:buChar char="§"/>
            </a:pPr>
            <a:r>
              <a:rPr lang="en-US" b="1" u="sng" dirty="0" smtClean="0"/>
              <a:t>Partial Budget </a:t>
            </a:r>
            <a:r>
              <a:rPr lang="en-US" b="1" u="sng" dirty="0"/>
              <a:t>Allocation</a:t>
            </a:r>
          </a:p>
          <a:p>
            <a:r>
              <a:rPr lang="en-US" dirty="0"/>
              <a:t>Allocate a modest budget to cover </a:t>
            </a:r>
            <a:r>
              <a:rPr lang="en-US" dirty="0" smtClean="0"/>
              <a:t>Bible , books</a:t>
            </a:r>
            <a:r>
              <a:rPr lang="en-US" dirty="0"/>
              <a:t>, sports equipment, nutritious meals, and workshop facilitation.</a:t>
            </a:r>
          </a:p>
        </p:txBody>
      </p:sp>
      <p:sp>
        <p:nvSpPr>
          <p:cNvPr id="3" name="Rectangle 2"/>
          <p:cNvSpPr/>
          <p:nvPr/>
        </p:nvSpPr>
        <p:spPr>
          <a:xfrm>
            <a:off x="2726912" y="684823"/>
            <a:ext cx="3602780" cy="584775"/>
          </a:xfrm>
          <a:prstGeom prst="rect">
            <a:avLst/>
          </a:prstGeom>
        </p:spPr>
        <p:txBody>
          <a:bodyPr wrap="square">
            <a:spAutoFit/>
          </a:bodyPr>
          <a:lstStyle/>
          <a:p>
            <a:r>
              <a:rPr lang="en-US" sz="3200" dirty="0" smtClean="0">
                <a:solidFill>
                  <a:srgbClr val="C00000"/>
                </a:solidFill>
              </a:rPr>
              <a:t>LIVING THE VISION</a:t>
            </a:r>
            <a:endParaRPr lang="en-SG" sz="3200" dirty="0">
              <a:solidFill>
                <a:srgbClr val="C00000"/>
              </a:solidFill>
            </a:endParaRPr>
          </a:p>
        </p:txBody>
      </p:sp>
      <p:sp>
        <p:nvSpPr>
          <p:cNvPr id="6" name="Rectangle 5"/>
          <p:cNvSpPr/>
          <p:nvPr/>
        </p:nvSpPr>
        <p:spPr>
          <a:xfrm>
            <a:off x="1406242" y="1244976"/>
            <a:ext cx="6287028" cy="646331"/>
          </a:xfrm>
          <a:prstGeom prst="rect">
            <a:avLst/>
          </a:prstGeom>
        </p:spPr>
        <p:txBody>
          <a:bodyPr wrap="square">
            <a:spAutoFit/>
          </a:bodyPr>
          <a:lstStyle/>
          <a:p>
            <a:r>
              <a:rPr lang="en-US" dirty="0"/>
              <a:t>We aim to secure </a:t>
            </a:r>
            <a:r>
              <a:rPr lang="en-US" b="1" u="sng" dirty="0">
                <a:solidFill>
                  <a:srgbClr val="FF0000"/>
                </a:solidFill>
              </a:rPr>
              <a:t>USD 50,000</a:t>
            </a:r>
            <a:r>
              <a:rPr lang="en-US" dirty="0"/>
              <a:t> to launch the foundational phase </a:t>
            </a:r>
            <a:endParaRPr lang="en-US" dirty="0" smtClean="0"/>
          </a:p>
          <a:p>
            <a:r>
              <a:rPr lang="en-US" dirty="0"/>
              <a:t> </a:t>
            </a:r>
            <a:r>
              <a:rPr lang="en-US" dirty="0" smtClean="0"/>
              <a:t>                             of </a:t>
            </a:r>
            <a:r>
              <a:rPr lang="en-US" dirty="0"/>
              <a:t>our mission-driven initiatives.</a:t>
            </a:r>
            <a:endParaRPr lang="en-SG" dirty="0"/>
          </a:p>
        </p:txBody>
      </p:sp>
    </p:spTree>
    <p:extLst>
      <p:ext uri="{BB962C8B-B14F-4D97-AF65-F5344CB8AC3E}">
        <p14:creationId xmlns:p14="http://schemas.microsoft.com/office/powerpoint/2010/main" val="3851109781"/>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900" y="0"/>
            <a:ext cx="2039815" cy="14155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333506" y="1133739"/>
            <a:ext cx="1686680" cy="369332"/>
          </a:xfrm>
          <a:prstGeom prst="rect">
            <a:avLst/>
          </a:prstGeom>
        </p:spPr>
        <p:txBody>
          <a:bodyPr wrap="none">
            <a:spAutoFit/>
          </a:bodyPr>
          <a:lstStyle/>
          <a:p>
            <a:r>
              <a:rPr lang="en-SG" dirty="0"/>
              <a:t>Living the vision</a:t>
            </a:r>
          </a:p>
        </p:txBody>
      </p:sp>
      <p:sp>
        <p:nvSpPr>
          <p:cNvPr id="2" name="Rectangle 1"/>
          <p:cNvSpPr/>
          <p:nvPr/>
        </p:nvSpPr>
        <p:spPr>
          <a:xfrm>
            <a:off x="1283676" y="3946169"/>
            <a:ext cx="6295292" cy="2062103"/>
          </a:xfrm>
          <a:prstGeom prst="rect">
            <a:avLst/>
          </a:prstGeom>
        </p:spPr>
        <p:txBody>
          <a:bodyPr wrap="square">
            <a:spAutoFit/>
          </a:bodyPr>
          <a:lstStyle/>
          <a:p>
            <a:r>
              <a:rPr lang="en-US" sz="3200" dirty="0" smtClean="0">
                <a:latin typeface="Bahnschrift Condensed" panose="020B0502040204020203" pitchFamily="34" charset="0"/>
              </a:rPr>
              <a:t>We </a:t>
            </a:r>
            <a:r>
              <a:rPr lang="en-US" sz="3200" dirty="0">
                <a:latin typeface="Bahnschrift Condensed" panose="020B0502040204020203" pitchFamily="34" charset="0"/>
              </a:rPr>
              <a:t>ensure transparent and efficient audit management, providing our partners with clear reporting, accountability, and confidence in every financial process.</a:t>
            </a:r>
            <a:endParaRPr lang="en-SG" sz="3200" dirty="0">
              <a:latin typeface="Bahnschrift Condensed" panose="020B0502040204020203" pitchFamily="34" charset="0"/>
            </a:endParaRPr>
          </a:p>
        </p:txBody>
      </p:sp>
      <p:sp>
        <p:nvSpPr>
          <p:cNvPr id="3" name="Rectangle 2"/>
          <p:cNvSpPr/>
          <p:nvPr/>
        </p:nvSpPr>
        <p:spPr>
          <a:xfrm>
            <a:off x="518746" y="1794271"/>
            <a:ext cx="7825153" cy="1047979"/>
          </a:xfrm>
          <a:prstGeom prst="rect">
            <a:avLst/>
          </a:prstGeom>
        </p:spPr>
        <p:txBody>
          <a:bodyPr wrap="square">
            <a:spAutoFit/>
          </a:bodyPr>
          <a:lstStyle/>
          <a:p>
            <a:pPr>
              <a:lnSpc>
                <a:spcPct val="115000"/>
              </a:lnSpc>
              <a:spcAft>
                <a:spcPts val="1000"/>
              </a:spcAft>
            </a:pPr>
            <a:r>
              <a:rPr lang="en-US" dirty="0" smtClean="0">
                <a:latin typeface="Cambria" panose="02040503050406030204" pitchFamily="18" charset="0"/>
                <a:ea typeface="MS Mincho"/>
                <a:cs typeface="Times New Roman" panose="02020603050405020304" pitchFamily="18" charset="0"/>
              </a:rPr>
              <a:t>• </a:t>
            </a:r>
            <a:r>
              <a:rPr lang="en-US" dirty="0">
                <a:latin typeface="Cambria" panose="02040503050406030204" pitchFamily="18" charset="0"/>
                <a:ea typeface="MS Mincho"/>
                <a:cs typeface="Times New Roman" panose="02020603050405020304" pitchFamily="18" charset="0"/>
              </a:rPr>
              <a:t>Annual review with </a:t>
            </a:r>
            <a:r>
              <a:rPr lang="en-US" dirty="0" smtClean="0">
                <a:latin typeface="Cambria" panose="02040503050406030204" pitchFamily="18" charset="0"/>
                <a:ea typeface="MS Mincho"/>
                <a:cs typeface="Times New Roman" panose="02020603050405020304" pitchFamily="18" charset="0"/>
              </a:rPr>
              <a:t>church </a:t>
            </a:r>
            <a:r>
              <a:rPr lang="en-US" dirty="0">
                <a:latin typeface="Cambria" panose="02040503050406030204" pitchFamily="18" charset="0"/>
                <a:ea typeface="MS Mincho"/>
                <a:cs typeface="Times New Roman" panose="02020603050405020304" pitchFamily="18" charset="0"/>
              </a:rPr>
              <a:t>leaders, and youth representatives.</a:t>
            </a:r>
            <a:br>
              <a:rPr lang="en-US" dirty="0">
                <a:latin typeface="Cambria" panose="02040503050406030204" pitchFamily="18" charset="0"/>
                <a:ea typeface="MS Mincho"/>
                <a:cs typeface="Times New Roman" panose="02020603050405020304" pitchFamily="18" charset="0"/>
              </a:rPr>
            </a:br>
            <a:r>
              <a:rPr lang="en-US" dirty="0">
                <a:latin typeface="Cambria" panose="02040503050406030204" pitchFamily="18" charset="0"/>
                <a:ea typeface="MS Mincho"/>
                <a:cs typeface="Times New Roman" panose="02020603050405020304" pitchFamily="18" charset="0"/>
              </a:rPr>
              <a:t>• Track participation, school results, health improvements, and testimonies.</a:t>
            </a:r>
            <a:br>
              <a:rPr lang="en-US" dirty="0">
                <a:latin typeface="Cambria" panose="02040503050406030204" pitchFamily="18" charset="0"/>
                <a:ea typeface="MS Mincho"/>
                <a:cs typeface="Times New Roman" panose="02020603050405020304" pitchFamily="18" charset="0"/>
              </a:rPr>
            </a:br>
            <a:r>
              <a:rPr lang="en-US" dirty="0">
                <a:latin typeface="Cambria" panose="02040503050406030204" pitchFamily="18" charset="0"/>
                <a:ea typeface="MS Mincho"/>
                <a:cs typeface="Times New Roman" panose="02020603050405020304" pitchFamily="18" charset="0"/>
              </a:rPr>
              <a:t>• Adjust strategies each year based on </a:t>
            </a:r>
            <a:r>
              <a:rPr lang="en-US" dirty="0" smtClean="0">
                <a:latin typeface="Cambria" panose="02040503050406030204" pitchFamily="18" charset="0"/>
                <a:ea typeface="MS Mincho"/>
                <a:cs typeface="Times New Roman" panose="02020603050405020304" pitchFamily="18" charset="0"/>
              </a:rPr>
              <a:t>feedback and statistics</a:t>
            </a:r>
            <a:endParaRPr lang="en-SG" dirty="0">
              <a:effectLst/>
              <a:latin typeface="Cambria" panose="02040503050406030204" pitchFamily="18" charset="0"/>
              <a:ea typeface="MS Mincho"/>
              <a:cs typeface="Times New Roman" panose="02020603050405020304" pitchFamily="18" charset="0"/>
            </a:endParaRPr>
          </a:p>
        </p:txBody>
      </p:sp>
      <p:sp>
        <p:nvSpPr>
          <p:cNvPr id="4" name="Rectangle 3"/>
          <p:cNvSpPr/>
          <p:nvPr/>
        </p:nvSpPr>
        <p:spPr>
          <a:xfrm>
            <a:off x="3138854" y="3328393"/>
            <a:ext cx="1904624" cy="523220"/>
          </a:xfrm>
          <a:prstGeom prst="rect">
            <a:avLst/>
          </a:prstGeom>
        </p:spPr>
        <p:txBody>
          <a:bodyPr wrap="none">
            <a:spAutoFit/>
          </a:bodyPr>
          <a:lstStyle/>
          <a:p>
            <a:r>
              <a:rPr lang="en-US" sz="2800" b="1" dirty="0">
                <a:solidFill>
                  <a:srgbClr val="FF0000"/>
                </a:solidFill>
              </a:rPr>
              <a:t>OVERSIGHT</a:t>
            </a:r>
          </a:p>
        </p:txBody>
      </p:sp>
      <p:sp>
        <p:nvSpPr>
          <p:cNvPr id="5" name="Rectangle 4"/>
          <p:cNvSpPr/>
          <p:nvPr/>
        </p:nvSpPr>
        <p:spPr>
          <a:xfrm>
            <a:off x="2671811" y="170748"/>
            <a:ext cx="2235868" cy="584775"/>
          </a:xfrm>
          <a:prstGeom prst="rect">
            <a:avLst/>
          </a:prstGeom>
        </p:spPr>
        <p:txBody>
          <a:bodyPr wrap="none">
            <a:spAutoFit/>
          </a:bodyPr>
          <a:lstStyle/>
          <a:p>
            <a:r>
              <a:rPr lang="en-SG" sz="3200" dirty="0"/>
              <a:t>Stewardship</a:t>
            </a:r>
          </a:p>
        </p:txBody>
      </p:sp>
      <p:sp>
        <p:nvSpPr>
          <p:cNvPr id="6" name="Rectangle 5"/>
          <p:cNvSpPr/>
          <p:nvPr/>
        </p:nvSpPr>
        <p:spPr>
          <a:xfrm>
            <a:off x="440046" y="1160396"/>
            <a:ext cx="5887766" cy="461665"/>
          </a:xfrm>
          <a:prstGeom prst="rect">
            <a:avLst/>
          </a:prstGeom>
        </p:spPr>
        <p:txBody>
          <a:bodyPr wrap="none">
            <a:spAutoFit/>
          </a:bodyPr>
          <a:lstStyle/>
          <a:p>
            <a:r>
              <a:rPr lang="en-US" sz="2400" b="1" dirty="0">
                <a:solidFill>
                  <a:srgbClr val="FF0000"/>
                </a:solidFill>
                <a:latin typeface="Cambria" panose="02040503050406030204" pitchFamily="18" charset="0"/>
                <a:ea typeface="MS Mincho"/>
                <a:cs typeface="Times New Roman" panose="02020603050405020304" pitchFamily="18" charset="0"/>
              </a:rPr>
              <a:t>Quarterly reports from ministry leaders</a:t>
            </a:r>
            <a:r>
              <a:rPr lang="en-US" b="1" dirty="0">
                <a:solidFill>
                  <a:srgbClr val="FF0000"/>
                </a:solidFill>
                <a:latin typeface="Cambria" panose="02040503050406030204" pitchFamily="18" charset="0"/>
                <a:ea typeface="MS Mincho"/>
                <a:cs typeface="Times New Roman" panose="02020603050405020304" pitchFamily="18" charset="0"/>
              </a:rPr>
              <a:t>.</a:t>
            </a:r>
            <a:endParaRPr lang="en-SG" dirty="0"/>
          </a:p>
        </p:txBody>
      </p:sp>
    </p:spTree>
    <p:extLst>
      <p:ext uri="{BB962C8B-B14F-4D97-AF65-F5344CB8AC3E}">
        <p14:creationId xmlns:p14="http://schemas.microsoft.com/office/powerpoint/2010/main" val="2614123467"/>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470" y="23604"/>
            <a:ext cx="1868085" cy="14155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566033" y="1099736"/>
            <a:ext cx="1559633" cy="307777"/>
          </a:xfrm>
          <a:prstGeom prst="rect">
            <a:avLst/>
          </a:prstGeom>
        </p:spPr>
        <p:txBody>
          <a:bodyPr wrap="square">
            <a:spAutoFit/>
          </a:bodyPr>
          <a:lstStyle/>
          <a:p>
            <a:r>
              <a:rPr lang="en-SG" sz="1400" dirty="0"/>
              <a:t>Living the vision</a:t>
            </a:r>
          </a:p>
        </p:txBody>
      </p:sp>
      <p:sp>
        <p:nvSpPr>
          <p:cNvPr id="6" name="Rectangle 5"/>
          <p:cNvSpPr/>
          <p:nvPr/>
        </p:nvSpPr>
        <p:spPr>
          <a:xfrm>
            <a:off x="2197369" y="95903"/>
            <a:ext cx="3926844" cy="461665"/>
          </a:xfrm>
          <a:prstGeom prst="rect">
            <a:avLst/>
          </a:prstGeom>
        </p:spPr>
        <p:txBody>
          <a:bodyPr wrap="none">
            <a:spAutoFit/>
          </a:bodyPr>
          <a:lstStyle/>
          <a:p>
            <a:r>
              <a:rPr lang="en-SG" sz="2400" b="1" dirty="0"/>
              <a:t>Leadership Support Structure</a:t>
            </a:r>
          </a:p>
        </p:txBody>
      </p:sp>
      <p:sp>
        <p:nvSpPr>
          <p:cNvPr id="8" name="Rectangle 7"/>
          <p:cNvSpPr/>
          <p:nvPr/>
        </p:nvSpPr>
        <p:spPr>
          <a:xfrm>
            <a:off x="-255684" y="1447573"/>
            <a:ext cx="9259007" cy="2031325"/>
          </a:xfrm>
          <a:prstGeom prst="rect">
            <a:avLst/>
          </a:prstGeom>
        </p:spPr>
        <p:txBody>
          <a:bodyPr wrap="square">
            <a:spAutoFit/>
          </a:bodyPr>
          <a:lstStyle/>
          <a:p>
            <a:r>
              <a:rPr lang="en-US" b="1" dirty="0" smtClean="0">
                <a:solidFill>
                  <a:srgbClr val="FF0000"/>
                </a:solidFill>
              </a:rPr>
              <a:t>                     </a:t>
            </a:r>
            <a:r>
              <a:rPr lang="en-US" b="1" dirty="0" smtClean="0"/>
              <a:t>Primary </a:t>
            </a:r>
            <a:r>
              <a:rPr lang="en-US" b="1" dirty="0"/>
              <a:t>Focus Areas:</a:t>
            </a:r>
            <a:endParaRPr lang="en-US" dirty="0"/>
          </a:p>
          <a:p>
            <a:pPr marL="742950" lvl="1" indent="-285750">
              <a:buFont typeface="Arial" panose="020B0604020202020204" pitchFamily="34" charset="0"/>
              <a:buChar char="•"/>
            </a:pPr>
            <a:r>
              <a:rPr lang="en-US" dirty="0"/>
              <a:t>Provides </a:t>
            </a:r>
            <a:r>
              <a:rPr lang="en-US" b="1" dirty="0"/>
              <a:t>spiritual covering and intercession</a:t>
            </a:r>
            <a:r>
              <a:rPr lang="en-US" dirty="0"/>
              <a:t> for the Lead Pastor and the church.</a:t>
            </a:r>
          </a:p>
          <a:p>
            <a:pPr marL="742950" lvl="1" indent="-285750">
              <a:buFont typeface="Arial" panose="020B0604020202020204" pitchFamily="34" charset="0"/>
              <a:buChar char="•"/>
            </a:pPr>
            <a:r>
              <a:rPr lang="en-US" dirty="0"/>
              <a:t>Acts as a </a:t>
            </a:r>
            <a:r>
              <a:rPr lang="en-US" b="1" dirty="0"/>
              <a:t>key spiritual advisor</a:t>
            </a:r>
            <a:r>
              <a:rPr lang="en-US" dirty="0"/>
              <a:t> to the Lead Pastor.</a:t>
            </a:r>
          </a:p>
          <a:p>
            <a:pPr marL="742950" lvl="1" indent="-285750">
              <a:buFont typeface="Arial" panose="020B0604020202020204" pitchFamily="34" charset="0"/>
              <a:buChar char="•"/>
            </a:pPr>
            <a:r>
              <a:rPr lang="en-US" dirty="0"/>
              <a:t>Participates in </a:t>
            </a:r>
            <a:r>
              <a:rPr lang="en-US" b="1" dirty="0"/>
              <a:t>board meetings</a:t>
            </a:r>
            <a:r>
              <a:rPr lang="en-US" dirty="0"/>
              <a:t> to give insight from a </a:t>
            </a:r>
            <a:r>
              <a:rPr lang="en-US" b="1" dirty="0"/>
              <a:t>spiritual and pastoral</a:t>
            </a:r>
            <a:r>
              <a:rPr lang="en-US" dirty="0"/>
              <a:t> perspective.</a:t>
            </a:r>
          </a:p>
          <a:p>
            <a:pPr marL="742950" lvl="1" indent="-285750">
              <a:buFont typeface="Arial" panose="020B0604020202020204" pitchFamily="34" charset="0"/>
              <a:buChar char="•"/>
            </a:pPr>
            <a:r>
              <a:rPr lang="en-US" dirty="0"/>
              <a:t>Helps </a:t>
            </a:r>
            <a:r>
              <a:rPr lang="en-US" b="1" dirty="0"/>
              <a:t>discern God’s direction</a:t>
            </a:r>
            <a:r>
              <a:rPr lang="en-US" dirty="0"/>
              <a:t> in key decisions.</a:t>
            </a:r>
          </a:p>
          <a:p>
            <a:pPr marL="742950" lvl="1" indent="-285750">
              <a:buFont typeface="Arial" panose="020B0604020202020204" pitchFamily="34" charset="0"/>
              <a:buChar char="•"/>
            </a:pPr>
            <a:r>
              <a:rPr lang="en-US" dirty="0"/>
              <a:t>Supports the </a:t>
            </a:r>
            <a:r>
              <a:rPr lang="en-US" b="1" dirty="0"/>
              <a:t>pastoral care of staff and leaders</a:t>
            </a:r>
            <a:r>
              <a:rPr lang="en-US" dirty="0"/>
              <a:t>.</a:t>
            </a:r>
          </a:p>
          <a:p>
            <a:pPr marL="742950" lvl="1" indent="-285750">
              <a:buFont typeface="Arial" panose="020B0604020202020204" pitchFamily="34" charset="0"/>
              <a:buChar char="•"/>
            </a:pPr>
            <a:r>
              <a:rPr lang="en-US" dirty="0"/>
              <a:t>Acts as a bridge between </a:t>
            </a:r>
            <a:r>
              <a:rPr lang="en-US" b="1" dirty="0"/>
              <a:t>spiritual vision</a:t>
            </a:r>
            <a:r>
              <a:rPr lang="en-US" dirty="0"/>
              <a:t> and </a:t>
            </a:r>
            <a:r>
              <a:rPr lang="en-US" b="1" dirty="0"/>
              <a:t>organizational decision-making</a:t>
            </a:r>
            <a:r>
              <a:rPr lang="en-US" dirty="0"/>
              <a:t>.</a:t>
            </a:r>
          </a:p>
        </p:txBody>
      </p:sp>
      <p:sp>
        <p:nvSpPr>
          <p:cNvPr id="9" name="Rectangle 8"/>
          <p:cNvSpPr/>
          <p:nvPr/>
        </p:nvSpPr>
        <p:spPr>
          <a:xfrm>
            <a:off x="129837" y="4359205"/>
            <a:ext cx="9008708" cy="2031325"/>
          </a:xfrm>
          <a:prstGeom prst="rect">
            <a:avLst/>
          </a:prstGeom>
        </p:spPr>
        <p:txBody>
          <a:bodyPr wrap="square">
            <a:spAutoFit/>
          </a:bodyPr>
          <a:lstStyle/>
          <a:p>
            <a:r>
              <a:rPr lang="en-US" dirty="0" smtClean="0"/>
              <a:t>                  </a:t>
            </a:r>
            <a:r>
              <a:rPr lang="en-US" sz="1400" b="1" dirty="0" smtClean="0">
                <a:latin typeface="Arial Black" panose="020B0A04020102020204" pitchFamily="34" charset="0"/>
              </a:rPr>
              <a:t>Strategy Primary </a:t>
            </a:r>
            <a:r>
              <a:rPr lang="en-US" sz="1400" b="1" dirty="0">
                <a:latin typeface="Arial Black" panose="020B0A04020102020204" pitchFamily="34" charset="0"/>
              </a:rPr>
              <a:t>Focus Areas</a:t>
            </a:r>
            <a:r>
              <a:rPr lang="en-US" sz="1400" b="1" dirty="0" smtClean="0">
                <a:latin typeface="Arial Black" panose="020B0A04020102020204" pitchFamily="34" charset="0"/>
              </a:rPr>
              <a:t>:</a:t>
            </a:r>
          </a:p>
          <a:p>
            <a:pPr marL="285750" indent="-285750">
              <a:buFont typeface="Wingdings" panose="05000000000000000000" pitchFamily="2" charset="2"/>
              <a:buChar char="§"/>
            </a:pPr>
            <a:r>
              <a:rPr lang="en-US" dirty="0" smtClean="0"/>
              <a:t>Assists </a:t>
            </a:r>
            <a:r>
              <a:rPr lang="en-US" dirty="0"/>
              <a:t>in board meeting preparation</a:t>
            </a:r>
            <a:r>
              <a:rPr lang="en-US" dirty="0" smtClean="0"/>
              <a:t>,</a:t>
            </a:r>
          </a:p>
          <a:p>
            <a:pPr marL="285750" indent="-285750">
              <a:buFont typeface="Wingdings" panose="05000000000000000000" pitchFamily="2" charset="2"/>
              <a:buChar char="§"/>
            </a:pPr>
            <a:r>
              <a:rPr lang="en-US" dirty="0" smtClean="0"/>
              <a:t>Presenting </a:t>
            </a:r>
            <a:r>
              <a:rPr lang="en-US" dirty="0"/>
              <a:t>reports or ministry </a:t>
            </a:r>
            <a:r>
              <a:rPr lang="en-US" dirty="0" err="1" smtClean="0"/>
              <a:t>updates.Supports</a:t>
            </a:r>
            <a:r>
              <a:rPr lang="en-US" dirty="0" smtClean="0"/>
              <a:t> </a:t>
            </a:r>
            <a:r>
              <a:rPr lang="en-US" dirty="0"/>
              <a:t>administrative and policy decisions under the direction of the Lead Pastor</a:t>
            </a:r>
            <a:r>
              <a:rPr lang="en-US" dirty="0" smtClean="0"/>
              <a:t>.</a:t>
            </a:r>
          </a:p>
          <a:p>
            <a:pPr marL="285750" indent="-285750">
              <a:buFont typeface="Wingdings" panose="05000000000000000000" pitchFamily="2" charset="2"/>
              <a:buChar char="§"/>
            </a:pPr>
            <a:r>
              <a:rPr lang="en-US" dirty="0" smtClean="0"/>
              <a:t>Helps </a:t>
            </a:r>
            <a:r>
              <a:rPr lang="en-US" dirty="0"/>
              <a:t>ensure that decisions made in the board align with ministry needs and capabilities</a:t>
            </a:r>
            <a:r>
              <a:rPr lang="en-US" dirty="0" smtClean="0"/>
              <a:t>. Works </a:t>
            </a:r>
            <a:r>
              <a:rPr lang="en-US" dirty="0"/>
              <a:t>closely with ministry heads to implement board-approved plans</a:t>
            </a:r>
            <a:r>
              <a:rPr lang="en-US" dirty="0" smtClean="0"/>
              <a:t>.</a:t>
            </a:r>
          </a:p>
          <a:p>
            <a:pPr marL="285750" indent="-285750">
              <a:buFont typeface="Wingdings" panose="05000000000000000000" pitchFamily="2" charset="2"/>
              <a:buChar char="§"/>
            </a:pPr>
            <a:r>
              <a:rPr lang="en-US" dirty="0" smtClean="0"/>
              <a:t>Acts </a:t>
            </a:r>
            <a:r>
              <a:rPr lang="en-US" dirty="0"/>
              <a:t>as a liaison between leadership and board, helping manage communication.</a:t>
            </a:r>
            <a:endParaRPr lang="en-SG" dirty="0"/>
          </a:p>
        </p:txBody>
      </p:sp>
      <p:pic>
        <p:nvPicPr>
          <p:cNvPr id="10" name="Picture 9"/>
          <p:cNvPicPr>
            <a:picLocks noChangeAspect="1"/>
          </p:cNvPicPr>
          <p:nvPr/>
        </p:nvPicPr>
        <p:blipFill>
          <a:blip r:embed="rId4"/>
          <a:stretch>
            <a:fillRect/>
          </a:stretch>
        </p:blipFill>
        <p:spPr>
          <a:xfrm>
            <a:off x="301688" y="671003"/>
            <a:ext cx="6230652" cy="768163"/>
          </a:xfrm>
          <a:prstGeom prst="rect">
            <a:avLst/>
          </a:prstGeom>
        </p:spPr>
      </p:pic>
      <p:pic>
        <p:nvPicPr>
          <p:cNvPr id="11" name="Picture 10"/>
          <p:cNvPicPr>
            <a:picLocks noChangeAspect="1"/>
          </p:cNvPicPr>
          <p:nvPr/>
        </p:nvPicPr>
        <p:blipFill>
          <a:blip r:embed="rId5"/>
          <a:stretch>
            <a:fillRect/>
          </a:stretch>
        </p:blipFill>
        <p:spPr>
          <a:xfrm>
            <a:off x="301688" y="3600724"/>
            <a:ext cx="7718205" cy="768163"/>
          </a:xfrm>
          <a:prstGeom prst="rect">
            <a:avLst/>
          </a:prstGeom>
        </p:spPr>
      </p:pic>
    </p:spTree>
    <p:extLst>
      <p:ext uri="{BB962C8B-B14F-4D97-AF65-F5344CB8AC3E}">
        <p14:creationId xmlns:p14="http://schemas.microsoft.com/office/powerpoint/2010/main" val="39233006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470" y="23604"/>
            <a:ext cx="1868085" cy="14155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566033" y="1099736"/>
            <a:ext cx="1559633" cy="307777"/>
          </a:xfrm>
          <a:prstGeom prst="rect">
            <a:avLst/>
          </a:prstGeom>
        </p:spPr>
        <p:txBody>
          <a:bodyPr wrap="square">
            <a:spAutoFit/>
          </a:bodyPr>
          <a:lstStyle/>
          <a:p>
            <a:r>
              <a:rPr lang="en-SG" sz="1400" dirty="0"/>
              <a:t>Living the vision</a:t>
            </a:r>
          </a:p>
        </p:txBody>
      </p:sp>
      <p:sp>
        <p:nvSpPr>
          <p:cNvPr id="6" name="Rectangle 5"/>
          <p:cNvSpPr/>
          <p:nvPr/>
        </p:nvSpPr>
        <p:spPr>
          <a:xfrm>
            <a:off x="595511" y="868903"/>
            <a:ext cx="6458178" cy="461665"/>
          </a:xfrm>
          <a:prstGeom prst="rect">
            <a:avLst/>
          </a:prstGeom>
        </p:spPr>
        <p:txBody>
          <a:bodyPr wrap="none">
            <a:spAutoFit/>
          </a:bodyPr>
          <a:lstStyle/>
          <a:p>
            <a:r>
              <a:rPr lang="en-SG" sz="2400" b="1" dirty="0" smtClean="0"/>
              <a:t>REGULAR ASSESSMENT FOR Trained Youth Leader</a:t>
            </a:r>
            <a:endParaRPr lang="en-SG" sz="2400" b="1" dirty="0"/>
          </a:p>
        </p:txBody>
      </p:sp>
      <p:sp>
        <p:nvSpPr>
          <p:cNvPr id="4" name="Rectangle 3"/>
          <p:cNvSpPr/>
          <p:nvPr/>
        </p:nvSpPr>
        <p:spPr>
          <a:xfrm>
            <a:off x="1361779" y="1542597"/>
            <a:ext cx="4572000" cy="1200329"/>
          </a:xfrm>
          <a:prstGeom prst="rect">
            <a:avLst/>
          </a:prstGeom>
        </p:spPr>
        <p:txBody>
          <a:bodyPr>
            <a:spAutoFit/>
          </a:bodyPr>
          <a:lstStyle/>
          <a:p>
            <a:r>
              <a:rPr lang="en-US" b="1" dirty="0"/>
              <a:t>1. </a:t>
            </a:r>
            <a:r>
              <a:rPr lang="en-US" b="1" dirty="0">
                <a:solidFill>
                  <a:srgbClr val="FF0000"/>
                </a:solidFill>
              </a:rPr>
              <a:t>Spiritual Growth</a:t>
            </a:r>
          </a:p>
          <a:p>
            <a:pPr>
              <a:buFont typeface="Arial" panose="020B0604020202020204" pitchFamily="34" charset="0"/>
              <a:buChar char="•"/>
            </a:pPr>
            <a:r>
              <a:rPr lang="en-US" dirty="0"/>
              <a:t>Do they pray and read the Bible regularly?</a:t>
            </a:r>
          </a:p>
          <a:p>
            <a:pPr>
              <a:buFont typeface="Arial" panose="020B0604020202020204" pitchFamily="34" charset="0"/>
              <a:buChar char="•"/>
            </a:pPr>
            <a:r>
              <a:rPr lang="en-US" dirty="0"/>
              <a:t>Are they showing kindness, patience, and love?</a:t>
            </a:r>
          </a:p>
        </p:txBody>
      </p:sp>
      <p:sp>
        <p:nvSpPr>
          <p:cNvPr id="5" name="Rectangle 4"/>
          <p:cNvSpPr/>
          <p:nvPr/>
        </p:nvSpPr>
        <p:spPr>
          <a:xfrm>
            <a:off x="1361779" y="2742926"/>
            <a:ext cx="4572000" cy="3693319"/>
          </a:xfrm>
          <a:prstGeom prst="rect">
            <a:avLst/>
          </a:prstGeom>
        </p:spPr>
        <p:txBody>
          <a:bodyPr>
            <a:spAutoFit/>
          </a:bodyPr>
          <a:lstStyle/>
          <a:p>
            <a:r>
              <a:rPr lang="en-US" b="1" dirty="0"/>
              <a:t>2. </a:t>
            </a:r>
            <a:r>
              <a:rPr lang="en-US" b="1" dirty="0">
                <a:solidFill>
                  <a:srgbClr val="FF0000"/>
                </a:solidFill>
              </a:rPr>
              <a:t>Good Character</a:t>
            </a:r>
          </a:p>
          <a:p>
            <a:pPr>
              <a:buFont typeface="Arial" panose="020B0604020202020204" pitchFamily="34" charset="0"/>
              <a:buChar char="•"/>
            </a:pPr>
            <a:r>
              <a:rPr lang="en-US" dirty="0"/>
              <a:t>Are they honest and responsible?</a:t>
            </a:r>
          </a:p>
          <a:p>
            <a:pPr>
              <a:buFont typeface="Arial" panose="020B0604020202020204" pitchFamily="34" charset="0"/>
              <a:buChar char="•"/>
            </a:pPr>
            <a:r>
              <a:rPr lang="en-US" dirty="0"/>
              <a:t>Do they accept feedback and try to improve?</a:t>
            </a:r>
          </a:p>
          <a:p>
            <a:r>
              <a:rPr lang="en-US" b="1" dirty="0"/>
              <a:t>3. </a:t>
            </a:r>
            <a:r>
              <a:rPr lang="en-US" b="1" dirty="0">
                <a:solidFill>
                  <a:srgbClr val="FF0000"/>
                </a:solidFill>
              </a:rPr>
              <a:t>Leadership Action</a:t>
            </a:r>
          </a:p>
          <a:p>
            <a:pPr>
              <a:buFont typeface="Arial" panose="020B0604020202020204" pitchFamily="34" charset="0"/>
              <a:buChar char="•"/>
            </a:pPr>
            <a:r>
              <a:rPr lang="en-US" dirty="0"/>
              <a:t>Are they taking the lead in helping others?</a:t>
            </a:r>
          </a:p>
          <a:p>
            <a:pPr>
              <a:buFont typeface="Arial" panose="020B0604020202020204" pitchFamily="34" charset="0"/>
              <a:buChar char="•"/>
            </a:pPr>
            <a:r>
              <a:rPr lang="en-US" dirty="0"/>
              <a:t>Do they mentor or guide people?</a:t>
            </a:r>
          </a:p>
          <a:p>
            <a:r>
              <a:rPr lang="en-US" b="1" dirty="0"/>
              <a:t>4. </a:t>
            </a:r>
            <a:r>
              <a:rPr lang="en-US" b="1" dirty="0">
                <a:solidFill>
                  <a:srgbClr val="FF0000"/>
                </a:solidFill>
              </a:rPr>
              <a:t>Positive Relationships</a:t>
            </a:r>
          </a:p>
          <a:p>
            <a:pPr>
              <a:buFont typeface="Arial" panose="020B0604020202020204" pitchFamily="34" charset="0"/>
              <a:buChar char="•"/>
            </a:pPr>
            <a:r>
              <a:rPr lang="en-US" dirty="0"/>
              <a:t>Do others respect and trust them?</a:t>
            </a:r>
          </a:p>
          <a:p>
            <a:pPr>
              <a:buFont typeface="Arial" panose="020B0604020202020204" pitchFamily="34" charset="0"/>
              <a:buChar char="•"/>
            </a:pPr>
            <a:r>
              <a:rPr lang="en-US" dirty="0"/>
              <a:t>Are they helping to bring people together?</a:t>
            </a:r>
          </a:p>
          <a:p>
            <a:r>
              <a:rPr lang="en-US" b="1" dirty="0"/>
              <a:t>5. </a:t>
            </a:r>
            <a:r>
              <a:rPr lang="en-US" b="1" dirty="0">
                <a:solidFill>
                  <a:srgbClr val="FF0000"/>
                </a:solidFill>
              </a:rPr>
              <a:t>Living Their Faith</a:t>
            </a:r>
          </a:p>
          <a:p>
            <a:pPr>
              <a:buFont typeface="Arial" panose="020B0604020202020204" pitchFamily="34" charset="0"/>
              <a:buChar char="•"/>
            </a:pPr>
            <a:r>
              <a:rPr lang="en-US" dirty="0"/>
              <a:t>Do they show Christ’s love in everyday life?</a:t>
            </a:r>
          </a:p>
          <a:p>
            <a:pPr>
              <a:buFont typeface="Arial" panose="020B0604020202020204" pitchFamily="34" charset="0"/>
              <a:buChar char="•"/>
            </a:pPr>
            <a:r>
              <a:rPr lang="en-US" dirty="0"/>
              <a:t>Are they involved in serving or helping their community?</a:t>
            </a:r>
          </a:p>
        </p:txBody>
      </p:sp>
    </p:spTree>
    <p:extLst>
      <p:ext uri="{BB962C8B-B14F-4D97-AF65-F5344CB8AC3E}">
        <p14:creationId xmlns:p14="http://schemas.microsoft.com/office/powerpoint/2010/main" val="18335808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470" y="23604"/>
            <a:ext cx="1868085" cy="14155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566033" y="1099736"/>
            <a:ext cx="1559633" cy="307777"/>
          </a:xfrm>
          <a:prstGeom prst="rect">
            <a:avLst/>
          </a:prstGeom>
        </p:spPr>
        <p:txBody>
          <a:bodyPr wrap="square">
            <a:spAutoFit/>
          </a:bodyPr>
          <a:lstStyle/>
          <a:p>
            <a:r>
              <a:rPr lang="en-SG" sz="1400" dirty="0"/>
              <a:t>Living the vision</a:t>
            </a:r>
          </a:p>
        </p:txBody>
      </p:sp>
      <p:sp>
        <p:nvSpPr>
          <p:cNvPr id="3" name="Rectangle 2"/>
          <p:cNvSpPr/>
          <p:nvPr/>
        </p:nvSpPr>
        <p:spPr>
          <a:xfrm>
            <a:off x="970814" y="761182"/>
            <a:ext cx="5723792" cy="646331"/>
          </a:xfrm>
          <a:prstGeom prst="rect">
            <a:avLst/>
          </a:prstGeom>
        </p:spPr>
        <p:txBody>
          <a:bodyPr wrap="square">
            <a:spAutoFit/>
          </a:bodyPr>
          <a:lstStyle/>
          <a:p>
            <a:r>
              <a:rPr lang="en-US" b="1" dirty="0" smtClean="0">
                <a:solidFill>
                  <a:srgbClr val="00B050"/>
                </a:solidFill>
              </a:rPr>
              <a:t>                 🌱</a:t>
            </a:r>
            <a:r>
              <a:rPr lang="en-US" b="1" dirty="0" smtClean="0"/>
              <a:t> </a:t>
            </a:r>
            <a:r>
              <a:rPr lang="en-US" b="1" dirty="0"/>
              <a:t>Creative Fundraising &amp; Sustainability Plan</a:t>
            </a:r>
          </a:p>
          <a:p>
            <a:endParaRPr lang="en-US" dirty="0"/>
          </a:p>
        </p:txBody>
      </p:sp>
      <p:sp>
        <p:nvSpPr>
          <p:cNvPr id="8" name="Rectangle 7"/>
          <p:cNvSpPr/>
          <p:nvPr/>
        </p:nvSpPr>
        <p:spPr>
          <a:xfrm>
            <a:off x="440950" y="1432981"/>
            <a:ext cx="8254641" cy="923330"/>
          </a:xfrm>
          <a:prstGeom prst="rect">
            <a:avLst/>
          </a:prstGeom>
        </p:spPr>
        <p:txBody>
          <a:bodyPr wrap="square">
            <a:spAutoFit/>
          </a:bodyPr>
          <a:lstStyle/>
          <a:p>
            <a:r>
              <a:rPr lang="en-US" dirty="0">
                <a:solidFill>
                  <a:srgbClr val="00B0F0"/>
                </a:solidFill>
              </a:rPr>
              <a:t>🔑 </a:t>
            </a:r>
            <a:r>
              <a:rPr lang="en-US" u="sng" dirty="0" err="1" smtClean="0"/>
              <a:t>Goal:</a:t>
            </a:r>
            <a:r>
              <a:rPr lang="en-US" dirty="0" err="1" smtClean="0"/>
              <a:t>To</a:t>
            </a:r>
            <a:r>
              <a:rPr lang="en-US" dirty="0" smtClean="0"/>
              <a:t> </a:t>
            </a:r>
            <a:r>
              <a:rPr lang="en-US" dirty="0"/>
              <a:t>build a monthly donor membership base and create self-sustaining revenue streams using the youth’s talents (art, music, sewing, cooking) while deepening community engagement.</a:t>
            </a:r>
            <a:endParaRPr lang="en-SG" dirty="0"/>
          </a:p>
        </p:txBody>
      </p:sp>
      <p:sp>
        <p:nvSpPr>
          <p:cNvPr id="9" name="Rectangle 8"/>
          <p:cNvSpPr/>
          <p:nvPr/>
        </p:nvSpPr>
        <p:spPr>
          <a:xfrm>
            <a:off x="405780" y="2607301"/>
            <a:ext cx="8324979" cy="2031325"/>
          </a:xfrm>
          <a:prstGeom prst="rect">
            <a:avLst/>
          </a:prstGeom>
        </p:spPr>
        <p:txBody>
          <a:bodyPr wrap="square">
            <a:spAutoFit/>
          </a:bodyPr>
          <a:lstStyle/>
          <a:p>
            <a:r>
              <a:rPr lang="en-US" dirty="0"/>
              <a:t>🎶 </a:t>
            </a:r>
            <a:r>
              <a:rPr lang="en-US" u="sng" dirty="0"/>
              <a:t>Café Busking &amp; Storytelling </a:t>
            </a:r>
            <a:r>
              <a:rPr lang="en-US" u="sng" dirty="0" smtClean="0"/>
              <a:t>Nights</a:t>
            </a:r>
          </a:p>
          <a:p>
            <a:r>
              <a:rPr lang="en-US" dirty="0" smtClean="0"/>
              <a:t>🎤 </a:t>
            </a:r>
            <a:r>
              <a:rPr lang="en-US" dirty="0" err="1"/>
              <a:t>What:Host</a:t>
            </a:r>
            <a:r>
              <a:rPr lang="en-US" dirty="0"/>
              <a:t> weekly or biweekly café nights where youth perform live music, poetry, or drama (busking style).Feature testimonies or personal stories of how the café and worship space has impacted </a:t>
            </a:r>
            <a:r>
              <a:rPr lang="en-US" dirty="0" smtClean="0"/>
              <a:t>them</a:t>
            </a:r>
          </a:p>
          <a:p>
            <a:r>
              <a:rPr lang="en-US" dirty="0" smtClean="0"/>
              <a:t>.</a:t>
            </a:r>
            <a:r>
              <a:rPr lang="en-US" dirty="0"/>
              <a:t>🎯 </a:t>
            </a:r>
            <a:r>
              <a:rPr lang="en-US" dirty="0" err="1"/>
              <a:t>Purpose:Draw</a:t>
            </a:r>
            <a:r>
              <a:rPr lang="en-US" dirty="0"/>
              <a:t> new visitors and local </a:t>
            </a:r>
            <a:r>
              <a:rPr lang="en-US" dirty="0" err="1"/>
              <a:t>supporters.Capture</a:t>
            </a:r>
            <a:r>
              <a:rPr lang="en-US" dirty="0"/>
              <a:t> emotional moments for video </a:t>
            </a:r>
            <a:r>
              <a:rPr lang="en-US" dirty="0" err="1"/>
              <a:t>content.Offer</a:t>
            </a:r>
            <a:r>
              <a:rPr lang="en-US" dirty="0"/>
              <a:t> a donation box + sign-up table for monthly supporters</a:t>
            </a:r>
            <a:r>
              <a:rPr lang="en-US" dirty="0" smtClean="0"/>
              <a:t>.</a:t>
            </a:r>
          </a:p>
          <a:p>
            <a:r>
              <a:rPr lang="en-US" dirty="0" smtClean="0"/>
              <a:t>✅ </a:t>
            </a:r>
            <a:r>
              <a:rPr lang="en-US" dirty="0"/>
              <a:t>Action Steps:</a:t>
            </a:r>
            <a:endParaRPr lang="en-SG" dirty="0"/>
          </a:p>
        </p:txBody>
      </p:sp>
      <p:sp>
        <p:nvSpPr>
          <p:cNvPr id="10" name="Rectangle 9"/>
          <p:cNvSpPr/>
          <p:nvPr/>
        </p:nvSpPr>
        <p:spPr>
          <a:xfrm>
            <a:off x="370612" y="4870637"/>
            <a:ext cx="8684716" cy="1200329"/>
          </a:xfrm>
          <a:prstGeom prst="rect">
            <a:avLst/>
          </a:prstGeom>
        </p:spPr>
        <p:txBody>
          <a:bodyPr wrap="square">
            <a:spAutoFit/>
          </a:bodyPr>
          <a:lstStyle/>
          <a:p>
            <a:r>
              <a:rPr lang="en-US" dirty="0"/>
              <a:t>🎥 </a:t>
            </a:r>
            <a:r>
              <a:rPr lang="en-US" u="sng" dirty="0"/>
              <a:t>Media Creation for Donor </a:t>
            </a:r>
            <a:r>
              <a:rPr lang="en-US" u="sng" dirty="0" smtClean="0"/>
              <a:t>Campaign</a:t>
            </a:r>
          </a:p>
          <a:p>
            <a:r>
              <a:rPr lang="en-US" dirty="0" smtClean="0"/>
              <a:t>📹 </a:t>
            </a:r>
            <a:r>
              <a:rPr lang="en-US" dirty="0" err="1"/>
              <a:t>What:Produce</a:t>
            </a:r>
            <a:r>
              <a:rPr lang="en-US" dirty="0"/>
              <a:t> short, high-impact videos and social media posts to launch a “Become a Monthly Member” </a:t>
            </a:r>
            <a:r>
              <a:rPr lang="en-US" dirty="0" err="1"/>
              <a:t>campaign.Feature:Youth</a:t>
            </a:r>
            <a:r>
              <a:rPr lang="en-US" dirty="0"/>
              <a:t> sharing their </a:t>
            </a:r>
            <a:r>
              <a:rPr lang="en-US" dirty="0" err="1"/>
              <a:t>storiesBehind</a:t>
            </a:r>
            <a:r>
              <a:rPr lang="en-US" dirty="0"/>
              <a:t>-the-scenes café and worship </a:t>
            </a:r>
            <a:r>
              <a:rPr lang="en-US" dirty="0" err="1"/>
              <a:t>momentsShowcasing</a:t>
            </a:r>
            <a:r>
              <a:rPr lang="en-US" dirty="0"/>
              <a:t> gifts they create for donors</a:t>
            </a:r>
            <a:endParaRPr lang="en-SG" dirty="0"/>
          </a:p>
        </p:txBody>
      </p:sp>
    </p:spTree>
    <p:extLst>
      <p:ext uri="{BB962C8B-B14F-4D97-AF65-F5344CB8AC3E}">
        <p14:creationId xmlns:p14="http://schemas.microsoft.com/office/powerpoint/2010/main" val="1043932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8" name="Picture 2" descr="South America World Flag SE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7538" y="49923"/>
            <a:ext cx="1573102" cy="127667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7581452" y="1078284"/>
            <a:ext cx="1389188" cy="307777"/>
          </a:xfrm>
          <a:prstGeom prst="rect">
            <a:avLst/>
          </a:prstGeom>
        </p:spPr>
        <p:txBody>
          <a:bodyPr wrap="square">
            <a:spAutoFit/>
          </a:bodyPr>
          <a:lstStyle/>
          <a:p>
            <a:pPr lvl="0"/>
            <a:r>
              <a:rPr lang="en-SG" sz="1400" dirty="0">
                <a:solidFill>
                  <a:prstClr val="black"/>
                </a:solidFill>
              </a:rPr>
              <a:t>Living the vision</a:t>
            </a:r>
          </a:p>
        </p:txBody>
      </p:sp>
      <p:sp>
        <p:nvSpPr>
          <p:cNvPr id="4" name="Rectangle 3"/>
          <p:cNvSpPr/>
          <p:nvPr/>
        </p:nvSpPr>
        <p:spPr>
          <a:xfrm>
            <a:off x="514058" y="1241550"/>
            <a:ext cx="6490284" cy="1077218"/>
          </a:xfrm>
          <a:prstGeom prst="rect">
            <a:avLst/>
          </a:prstGeom>
        </p:spPr>
        <p:txBody>
          <a:bodyPr wrap="square">
            <a:spAutoFit/>
          </a:bodyPr>
          <a:lstStyle/>
          <a:p>
            <a:r>
              <a:rPr lang="en-US" sz="2000" i="1" dirty="0"/>
              <a:t>Your generous support, guided by </a:t>
            </a:r>
            <a:r>
              <a:rPr lang="en-US" sz="2400" i="1" u="sng" dirty="0">
                <a:solidFill>
                  <a:srgbClr val="FF0000"/>
                </a:solidFill>
              </a:rPr>
              <a:t>the love of Jesus</a:t>
            </a:r>
            <a:r>
              <a:rPr lang="en-US" sz="2000" i="1" dirty="0"/>
              <a:t>, can transform the lives of children and youth by giving them the education and skills they need to succeed</a:t>
            </a:r>
            <a:endParaRPr lang="en-SG" sz="2000" i="1" dirty="0"/>
          </a:p>
        </p:txBody>
      </p:sp>
      <p:sp>
        <p:nvSpPr>
          <p:cNvPr id="6" name="Rectangle 5"/>
          <p:cNvSpPr/>
          <p:nvPr/>
        </p:nvSpPr>
        <p:spPr>
          <a:xfrm>
            <a:off x="924800" y="5758488"/>
            <a:ext cx="6581860" cy="584775"/>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n-US" sz="2400" b="0" cap="none" spc="0" dirty="0" smtClean="0">
                <a:ln w="0"/>
                <a:gradFill>
                  <a:gsLst>
                    <a:gs pos="21000">
                      <a:srgbClr val="53575C"/>
                    </a:gs>
                    <a:gs pos="88000">
                      <a:srgbClr val="C5C7CA"/>
                    </a:gs>
                  </a:gsLst>
                  <a:lin ang="5400000"/>
                </a:gradFill>
                <a:effectLst/>
              </a:rPr>
              <a:t>Thank you</a:t>
            </a:r>
            <a:r>
              <a:rPr lang="en-US" sz="2400" dirty="0"/>
              <a:t> Your kindness means so much to </a:t>
            </a:r>
            <a:r>
              <a:rPr lang="en-US" sz="2400" dirty="0" smtClean="0"/>
              <a:t>us</a:t>
            </a:r>
            <a:r>
              <a:rPr lang="en-US" sz="3200" b="0" cap="none" spc="0" dirty="0" smtClean="0">
                <a:ln w="0"/>
                <a:gradFill>
                  <a:gsLst>
                    <a:gs pos="21000">
                      <a:srgbClr val="53575C"/>
                    </a:gs>
                    <a:gs pos="88000">
                      <a:srgbClr val="C5C7CA"/>
                    </a:gs>
                  </a:gsLst>
                  <a:lin ang="5400000"/>
                </a:gradFill>
                <a:effectLst/>
              </a:rPr>
              <a:t> </a:t>
            </a:r>
            <a:endParaRPr lang="en-US" sz="3200" b="0" cap="none" spc="0" dirty="0">
              <a:ln w="0"/>
              <a:gradFill>
                <a:gsLst>
                  <a:gs pos="21000">
                    <a:srgbClr val="53575C"/>
                  </a:gs>
                  <a:gs pos="88000">
                    <a:srgbClr val="C5C7CA"/>
                  </a:gs>
                </a:gsLst>
                <a:lin ang="5400000"/>
              </a:gradFill>
              <a:effectLst/>
            </a:endParaRPr>
          </a:p>
        </p:txBody>
      </p:sp>
      <p:pic>
        <p:nvPicPr>
          <p:cNvPr id="7" name="Picture 6"/>
          <p:cNvPicPr>
            <a:picLocks noChangeAspect="1"/>
          </p:cNvPicPr>
          <p:nvPr/>
        </p:nvPicPr>
        <p:blipFill>
          <a:blip r:embed="rId3"/>
          <a:stretch>
            <a:fillRect/>
          </a:stretch>
        </p:blipFill>
        <p:spPr>
          <a:xfrm>
            <a:off x="6661013" y="2028745"/>
            <a:ext cx="3332284" cy="3332284"/>
          </a:xfrm>
          <a:prstGeom prst="rect">
            <a:avLst/>
          </a:prstGeom>
        </p:spPr>
      </p:pic>
      <p:pic>
        <p:nvPicPr>
          <p:cNvPr id="3" name="Picture 2"/>
          <p:cNvPicPr>
            <a:picLocks noChangeAspect="1"/>
          </p:cNvPicPr>
          <p:nvPr/>
        </p:nvPicPr>
        <p:blipFill>
          <a:blip r:embed="rId4"/>
          <a:stretch>
            <a:fillRect/>
          </a:stretch>
        </p:blipFill>
        <p:spPr>
          <a:xfrm>
            <a:off x="5884442" y="3694887"/>
            <a:ext cx="1282010" cy="1194654"/>
          </a:xfrm>
          <a:prstGeom prst="rect">
            <a:avLst/>
          </a:prstGeom>
        </p:spPr>
      </p:pic>
      <p:sp>
        <p:nvSpPr>
          <p:cNvPr id="2" name="Rectangle 1"/>
          <p:cNvSpPr/>
          <p:nvPr/>
        </p:nvSpPr>
        <p:spPr>
          <a:xfrm>
            <a:off x="514058" y="2449380"/>
            <a:ext cx="5301762" cy="2677656"/>
          </a:xfrm>
          <a:prstGeom prst="rect">
            <a:avLst/>
          </a:prstGeom>
        </p:spPr>
        <p:txBody>
          <a:bodyPr wrap="square">
            <a:spAutoFit/>
          </a:bodyPr>
          <a:lstStyle/>
          <a:p>
            <a:r>
              <a:rPr lang="en-US" sz="2400" dirty="0" smtClean="0">
                <a:solidFill>
                  <a:srgbClr val="C00000"/>
                </a:solidFill>
              </a:rPr>
              <a:t>Means </a:t>
            </a:r>
            <a:r>
              <a:rPr lang="en-US" sz="2400" dirty="0">
                <a:solidFill>
                  <a:srgbClr val="C00000"/>
                </a:solidFill>
              </a:rPr>
              <a:t>not just talking about </a:t>
            </a:r>
            <a:r>
              <a:rPr lang="en-US" sz="2400" dirty="0" smtClean="0">
                <a:solidFill>
                  <a:srgbClr val="C00000"/>
                </a:solidFill>
              </a:rPr>
              <a:t>mission </a:t>
            </a:r>
            <a:r>
              <a:rPr lang="en-US" sz="2400" dirty="0">
                <a:solidFill>
                  <a:srgbClr val="C00000"/>
                </a:solidFill>
              </a:rPr>
              <a:t>or goals, but </a:t>
            </a:r>
            <a:r>
              <a:rPr lang="en-US" sz="2400" b="1" dirty="0">
                <a:solidFill>
                  <a:srgbClr val="C00000"/>
                </a:solidFill>
              </a:rPr>
              <a:t>actively walking it out in daily life</a:t>
            </a:r>
            <a:r>
              <a:rPr lang="en-US" sz="2400" dirty="0">
                <a:solidFill>
                  <a:srgbClr val="C00000"/>
                </a:solidFill>
              </a:rPr>
              <a:t>. It’s when leaders, teams, and communities </a:t>
            </a:r>
            <a:r>
              <a:rPr lang="en-US" sz="2400" b="1" dirty="0">
                <a:solidFill>
                  <a:srgbClr val="C00000"/>
                </a:solidFill>
              </a:rPr>
              <a:t>embody the values and purpose</a:t>
            </a:r>
            <a:r>
              <a:rPr lang="en-US" sz="2400" dirty="0">
                <a:solidFill>
                  <a:srgbClr val="C00000"/>
                </a:solidFill>
              </a:rPr>
              <a:t> </a:t>
            </a:r>
            <a:r>
              <a:rPr lang="en-US" sz="2400" dirty="0" smtClean="0">
                <a:solidFill>
                  <a:srgbClr val="C00000"/>
                </a:solidFill>
              </a:rPr>
              <a:t>we've </a:t>
            </a:r>
            <a:r>
              <a:rPr lang="en-US" sz="2400" dirty="0">
                <a:solidFill>
                  <a:srgbClr val="C00000"/>
                </a:solidFill>
              </a:rPr>
              <a:t>committed to </a:t>
            </a:r>
            <a:r>
              <a:rPr lang="en-US" sz="2400" dirty="0" smtClean="0">
                <a:solidFill>
                  <a:srgbClr val="C00000"/>
                </a:solidFill>
              </a:rPr>
              <a:t>in </a:t>
            </a:r>
            <a:r>
              <a:rPr lang="en-US" sz="2400" dirty="0">
                <a:solidFill>
                  <a:srgbClr val="C00000"/>
                </a:solidFill>
              </a:rPr>
              <a:t>every action, every relationship, and every decision</a:t>
            </a:r>
            <a:endParaRPr lang="en-SG" sz="2400" dirty="0">
              <a:solidFill>
                <a:srgbClr val="C00000"/>
              </a:solidFill>
            </a:endParaRPr>
          </a:p>
        </p:txBody>
      </p:sp>
      <p:sp>
        <p:nvSpPr>
          <p:cNvPr id="11" name="Rectangle 10"/>
          <p:cNvSpPr/>
          <p:nvPr/>
        </p:nvSpPr>
        <p:spPr>
          <a:xfrm>
            <a:off x="5759418" y="2872485"/>
            <a:ext cx="1984839" cy="400110"/>
          </a:xfrm>
          <a:prstGeom prst="rect">
            <a:avLst/>
          </a:prstGeom>
        </p:spPr>
        <p:txBody>
          <a:bodyPr wrap="none">
            <a:spAutoFit/>
          </a:bodyPr>
          <a:lstStyle/>
          <a:p>
            <a:r>
              <a:rPr lang="en-US" sz="2000" b="1" dirty="0">
                <a:solidFill>
                  <a:srgbClr val="C00000"/>
                </a:solidFill>
              </a:rPr>
              <a:t>Living the Vision</a:t>
            </a:r>
            <a:r>
              <a:rPr lang="en-US" sz="2000" dirty="0">
                <a:solidFill>
                  <a:srgbClr val="C00000"/>
                </a:solidFill>
              </a:rPr>
              <a:t> </a:t>
            </a:r>
          </a:p>
        </p:txBody>
      </p:sp>
      <p:sp>
        <p:nvSpPr>
          <p:cNvPr id="13" name="TextBox 12"/>
          <p:cNvSpPr txBox="1"/>
          <p:nvPr/>
        </p:nvSpPr>
        <p:spPr>
          <a:xfrm>
            <a:off x="2420396" y="505608"/>
            <a:ext cx="2940036" cy="584775"/>
          </a:xfrm>
          <a:prstGeom prst="rect">
            <a:avLst/>
          </a:prstGeom>
          <a:noFill/>
        </p:spPr>
        <p:txBody>
          <a:bodyPr wrap="none" rtlCol="0">
            <a:spAutoFit/>
          </a:bodyPr>
          <a:lstStyle/>
          <a:p>
            <a:r>
              <a:rPr lang="en-SG" sz="3200" dirty="0" smtClean="0"/>
              <a:t>Closing Message</a:t>
            </a:r>
            <a:endParaRPr lang="en-SG" sz="3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026" name="Picture 2" descr="South America World Flag SE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470" y="23604"/>
            <a:ext cx="1868085" cy="14155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566033" y="1099736"/>
            <a:ext cx="1559633" cy="307777"/>
          </a:xfrm>
          <a:prstGeom prst="rect">
            <a:avLst/>
          </a:prstGeom>
        </p:spPr>
        <p:txBody>
          <a:bodyPr wrap="square">
            <a:spAutoFit/>
          </a:bodyPr>
          <a:lstStyle/>
          <a:p>
            <a:r>
              <a:rPr lang="en-SG" sz="1400" dirty="0"/>
              <a:t>Living the vision</a:t>
            </a:r>
          </a:p>
        </p:txBody>
      </p:sp>
      <p:pic>
        <p:nvPicPr>
          <p:cNvPr id="2" name="Picture 1"/>
          <p:cNvPicPr>
            <a:picLocks noChangeAspect="1"/>
          </p:cNvPicPr>
          <p:nvPr/>
        </p:nvPicPr>
        <p:blipFill>
          <a:blip r:embed="rId4"/>
          <a:stretch>
            <a:fillRect/>
          </a:stretch>
        </p:blipFill>
        <p:spPr>
          <a:xfrm>
            <a:off x="1206605" y="2189285"/>
            <a:ext cx="6649575" cy="4101429"/>
          </a:xfrm>
          <a:prstGeom prst="rect">
            <a:avLst/>
          </a:prstGeom>
        </p:spPr>
      </p:pic>
      <p:pic>
        <p:nvPicPr>
          <p:cNvPr id="9" name="Picture 8"/>
          <p:cNvPicPr>
            <a:picLocks noChangeAspect="1"/>
          </p:cNvPicPr>
          <p:nvPr/>
        </p:nvPicPr>
        <p:blipFill>
          <a:blip r:embed="rId5"/>
          <a:stretch>
            <a:fillRect/>
          </a:stretch>
        </p:blipFill>
        <p:spPr>
          <a:xfrm>
            <a:off x="3066139" y="463049"/>
            <a:ext cx="2886075" cy="1581150"/>
          </a:xfrm>
          <a:prstGeom prst="rect">
            <a:avLst/>
          </a:prstGeom>
        </p:spPr>
      </p:pic>
    </p:spTree>
    <p:extLst>
      <p:ext uri="{BB962C8B-B14F-4D97-AF65-F5344CB8AC3E}">
        <p14:creationId xmlns:p14="http://schemas.microsoft.com/office/powerpoint/2010/main" val="501425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TotalTime>
  <Words>1314</Words>
  <Application>Microsoft Office PowerPoint</Application>
  <PresentationFormat>On-screen Show (4:3)</PresentationFormat>
  <Paragraphs>188</Paragraphs>
  <Slides>20</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MS Gothic</vt:lpstr>
      <vt:lpstr>Arial</vt:lpstr>
      <vt:lpstr>Arial Black</vt:lpstr>
      <vt:lpstr>Bahnschrift Condensed</vt:lpstr>
      <vt:lpstr>Bahnschrift SemiBold</vt:lpstr>
      <vt:lpstr>Calibri</vt:lpstr>
      <vt:lpstr>Cambria</vt:lpstr>
      <vt:lpstr>MS Mincho</vt:lpstr>
      <vt:lpstr>Sitka Text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Church Community Center for the Myanmar Community</dc:title>
  <dc:subject/>
  <dc:creator>Charles Tan</dc:creator>
  <cp:keywords/>
  <dc:description>generated using python-pptx</dc:description>
  <cp:lastModifiedBy>Microsoft account</cp:lastModifiedBy>
  <cp:revision>67</cp:revision>
  <dcterms:created xsi:type="dcterms:W3CDTF">2013-01-27T09:14:16Z</dcterms:created>
  <dcterms:modified xsi:type="dcterms:W3CDTF">2025-09-16T15:29:36Z</dcterms:modified>
  <cp:category/>
</cp:coreProperties>
</file>